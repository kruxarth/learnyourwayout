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f553c74-05ae-7c12-3bbe-4f13bd12f922}">
          <p14:sldIdLst>
            <p14:sldId id="256"/>
          </p14:sldIdLst>
        </p14:section>
        <p14:section name="Proposed solution" id="{ce3480aa-f375-e223-0a1d-86ea68ab699d}">
          <p14:sldIdLst>
            <p14:sldId id="257"/>
          </p14:sldIdLst>
        </p14:section>
        <p14:section name="Technical approach" id="{323e33c3-940b-68c3-d434-1c63fa3517a2}">
          <p14:sldIdLst>
            <p14:sldId id="258"/>
          </p14:sldIdLst>
        </p14:section>
        <p14:section name="Feasibility &amp; viability" id="{807e5abb-4a4f-0878-ce31-868ff74ef7c5}">
          <p14:sldIdLst>
            <p14:sldId id="259"/>
          </p14:sldIdLst>
        </p14:section>
        <p14:section name="Impact &amp; benefits" id="{c8c1bcab-6e6a-0a79-24b1-434120043cfb}">
          <p14:sldIdLst>
            <p14:sldId id="260"/>
          </p14:sldIdLst>
        </p14:section>
        <p14:section name="Research &amp; references" id="{d8ae5eba-ca42-fc2c-8214-e5ff263effa9}">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Team Solo with PL05, Learn Your Way Out, for the Play Lab track. We are in the ideation phase. The idea is a 3D maze game in the browser where every answer is a place you run to: a door, a tile, a stepping stone. Players pick a subject and a difficulty, escape the maze, and learn on the way. We also plan AI-made questions on any topic and live races with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most learning games are a quiz with a costume. Play stops, a popup asks a question, play resumes. Our idea is that the maze is the quiz. Door Rush is multiple choice: run through the right door. Tile Drop is true or false: stand on the right tile before time runs out. Step Stones solves a problem one step at a time. Bridge Builder puts things in order. A wrong answer drops you into a detour that teaches the answer and gives a retry, while the slime keeps rising. The screens are from an early concept prototype. On top, we plan AI-made questions on any topic and live multiplayer 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from the brief: select, generate, navigate, challenge, evaluate, then progress or penalty, and a win or lose check. The planned engine is plain TypeScript with a fixed 120 Hz step and its own collision, so it can run headless and a bot can play every generated course as a test. Rendering will use three.js through React Three Fiber, and the HUD React with zustand. Mazes come from a depth-first backtracker with braiding, seeded so one seed always gives the same maze. AI questions will go through a small Node proxy to DeepSeek, be validated against our question schema, and be cached. Multiplayer only needs to share the seed and positions, because every client can build the same course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every part uses proven web technology that runs in any browser, including phones, and the design is modular, so AI questions and multiplayer plug in later. Viability: the core is static files, so hosting is free tier. AI generation makes a whole question pack per call and caches it, and the multiplayer relay only forwards positions, so servers stay tiny. The roadmap goes from concept, where we are now, to a core prototype, then content and adaptivity, AI questions, and finally multiplayer and a classroom pilot. The main risks are wrong AI facts and latency; we plan schema validation, a second check and a built-in question bank as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in the loop. You try by moving, you get instant feedback, a wrong answer explains itself with a worked example, you retry a similar question, and the game adapts. Each run is designed to end with mastery per concept and a review of every miss, with one button to replay weak spots. Students get active recall and safe mistakes, teachers can turn their own notes into a game in seconds, and schools need nothing but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mechanic comes from a research result. Retrieval practice beats rereading, so every room is a retrieval attempt. Feedback is one of the strongest levers, so every answer gets instant feedback. Errors followed by corrective feedback help learning, which is the detour. Desirable difficulty and flow motivate the adaptive tier, spacing motivates weak-spot runs, and meta-analyses show games teach best when learning is part of the core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15568"/>
            <a:ext cx="5669280" cy="2148840"/>
          </a:xfrm>
          <a:prstGeom prst="rect">
            <a:avLst/>
          </a:prstGeom>
          <a:noFill/>
          <a:ln/>
        </p:spPr>
        <p:txBody>
          <a:bodyPr wrap="square" rtlCol="0"/>
          <a:lstStyle>
            <a:lvl1pPr algn="l" indent="0" marL="0">
              <a:buNone/>
              <a:defRPr lang="en-US" sz="6000" dirty="0">
                <a:solidFill>
                  <a:schemeClr val="bg1"/>
                </a:solidFill>
                <a:latin typeface="Titan One" pitchFamily="34" charset="0"/>
                <a:ea typeface="Titan One" pitchFamily="34" charset="-122"/>
                <a:cs typeface="Titan One" pitchFamily="34" charset="-120"/>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1F9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713232"/>
          </a:xfrm>
          <a:prstGeom prst="rect">
            <a:avLst/>
          </a:prstGeom>
          <a:noFill/>
          <a:ln/>
        </p:spPr>
        <p:txBody>
          <a:bodyPr wrap="square" rtlCol="0"/>
          <a:lstStyle>
            <a:lvl1pPr algn="l" indent="0" marL="0">
              <a:buNone/>
              <a:defRPr lang="en-US" sz="3400" dirty="0">
                <a:solidFill>
                  <a:schemeClr val="tx1"/>
                </a:solidFill>
                <a:latin typeface="Titan One" pitchFamily="34" charset="0"/>
                <a:ea typeface="Titan One" pitchFamily="34" charset="-122"/>
                <a:cs typeface="Titan One" pitchFamily="34" charset="-120"/>
              </a:defRPr>
            </a:lvl1pPr>
          </a:lstStyle>
          <a:p>
            <a:pPr algn="l" indent="0" marL="0">
              <a:buNone/>
            </a:pPr>
            <a:endParaRPr lang="en-US" sz="3400" dirty="0"/>
          </a:p>
        </p:txBody>
      </p:sp>
      <p:pic>
        <p:nvPicPr>
          <p:cNvPr id="3" name="Image 0" descr="preencoded.png">    </p:cNvPr>
          <p:cNvPicPr>
            <a:picLocks noChangeAspect="1"/>
          </p:cNvPicPr>
          <p:nvPr/>
        </p:nvPicPr>
        <p:blipFill>
          <a:blip r:embed="rId1"/>
          <a:stretch>
            <a:fillRect/>
          </a:stretch>
        </p:blipFill>
        <p:spPr>
          <a:xfrm>
            <a:off x="548640" y="6400800"/>
            <a:ext cx="137160" cy="235001"/>
          </a:xfrm>
          <a:prstGeom prst="rect">
            <a:avLst/>
          </a:prstGeom>
        </p:spPr>
      </p:pic>
      <p:sp>
        <p:nvSpPr>
          <p:cNvPr id="4" name="Text 0"/>
          <p:cNvSpPr/>
          <p:nvPr/>
        </p:nvSpPr>
        <p:spPr>
          <a:xfrm>
            <a:off x="768096" y="6419088"/>
            <a:ext cx="5486400" cy="219456"/>
          </a:xfrm>
          <a:prstGeom prst="rect">
            <a:avLst/>
          </a:prstGeom>
          <a:noFill/>
          <a:ln/>
        </p:spPr>
        <p:txBody>
          <a:bodyPr wrap="square" lIns="0" tIns="0" rIns="0" bIns="0" rtlCol="0" anchor="ctr"/>
          <a:lstStyle/>
          <a:p>
            <a:pPr indent="0" marL="0">
              <a:buNone/>
            </a:pPr>
            <a:r>
              <a:rPr lang="en-US" sz="900" b="1" spc="150" kern="0" dirty="0">
                <a:solidFill>
                  <a:schemeClr val="tx2"/>
                </a:solidFill>
              </a:rPr>
              <a:t>LEARN YOUR WAY OUT  ·  PL05  ·  PLAY LAB</a:t>
            </a:r>
            <a:endParaRPr lang="en-US" sz="900" dirty="0"/>
          </a:p>
        </p:txBody>
      </p:sp>
      <p:sp>
        <p:nvSpPr>
          <p:cNvPr id="25" name="Slide Number Placeholder 0"/>
          <p:cNvSpPr>
            <a:spLocks noGrp="1"/>
          </p:cNvSpPr>
          <p:nvPr>
            <p:ph type="sldNum" sz="quarter" idx="4294967295"/>
          </p:nvPr>
        </p:nvSpPr>
        <p:spPr>
          <a:xfrm>
            <a:off x="11183112" y="641908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58368"/>
            <a:ext cx="2514600" cy="347472"/>
          </a:xfrm>
          <a:prstGeom prst="roundRect">
            <a:avLst>
              <a:gd name="adj" fmla="val 50000"/>
            </a:avLst>
          </a:prstGeom>
          <a:solidFill>
            <a:srgbClr val="FFFFFF"/>
          </a:solidFill>
          <a:ln/>
          <a:effectLst>
            <a:outerShdw sx="100000" sy="100000" kx="0" ky="0" algn="bl" rotWithShape="0" blurRad="127000" dist="38100" dir="5400000">
              <a:srgbClr val="2B2D42">
                <a:alpha val="14000"/>
              </a:srgbClr>
            </a:outerShdw>
          </a:effectLst>
        </p:spPr>
        <p:txBody>
          <a:bodyPr wrap="square" lIns="0" tIns="0" rIns="0" bIns="0" rtlCol="0" anchor="ctr"/>
          <a:lstStyle/>
          <a:p>
            <a:pPr algn="ctr" indent="0" marL="0">
              <a:buNone/>
            </a:pPr>
            <a:r>
              <a:rPr lang="en-US" sz="1100" b="1" spc="150" kern="0" dirty="0">
                <a:solidFill>
                  <a:srgbClr val="FF4FA0"/>
                </a:solidFill>
              </a:rPr>
              <a:t>PL05  ·  PLAY LAB TRACK</a:t>
            </a:r>
            <a:endParaRPr lang="en-US" sz="1100" dirty="0"/>
          </a:p>
        </p:txBody>
      </p:sp>
      <p:sp>
        <p:nvSpPr>
          <p:cNvPr id="3" name="Text 1"/>
          <p:cNvSpPr txBox="1"/>
          <p:nvPr/>
        </p:nvSpPr>
        <p:spPr>
          <a:xfrm>
            <a:off x="3291840" y="658368"/>
            <a:ext cx="1737360" cy="347472"/>
          </a:xfrm>
          <a:prstGeom prst="roundRect">
            <a:avLst>
              <a:gd name="adj" fmla="val 50000"/>
            </a:avLst>
          </a:prstGeom>
          <a:solidFill>
            <a:srgbClr val="FFC93C"/>
          </a:solidFill>
          <a:ln/>
          <a:effectLst>
            <a:outerShdw sx="100000" sy="100000" kx="0" ky="0" algn="bl" rotWithShape="0" blurRad="127000" dist="38100" dir="5400000">
              <a:srgbClr val="2B2D42">
                <a:alpha val="14000"/>
              </a:srgbClr>
            </a:outerShdw>
          </a:effectLst>
        </p:spPr>
        <p:txBody>
          <a:bodyPr wrap="square" lIns="0" tIns="0" rIns="0" bIns="0" rtlCol="0" anchor="ctr"/>
          <a:lstStyle/>
          <a:p>
            <a:pPr algn="ctr" indent="0" marL="0">
              <a:buNone/>
            </a:pPr>
            <a:r>
              <a:rPr lang="en-US" sz="1100" b="1" spc="150" kern="0" dirty="0">
                <a:solidFill>
                  <a:srgbClr val="2B2D42"/>
                </a:solidFill>
              </a:rPr>
              <a:t>IDEATION PHASE</a:t>
            </a:r>
            <a:endParaRPr lang="en-US" sz="1100" dirty="0"/>
          </a:p>
        </p:txBody>
      </p:sp>
      <p:sp>
        <p:nvSpPr>
          <p:cNvPr id="4" name="Text 0"/>
          <p:cNvSpPr/>
          <p:nvPr>
            <p:ph idx="100" type="title" hasCustomPrompt="1"/>
          </p:nvPr>
        </p:nvSpPr>
        <p:spPr>
          <a:xfrm>
            <a:off x="640080" y="1115568"/>
            <a:ext cx="5669280" cy="2148840"/>
          </a:xfrm>
          <a:prstGeom prst="rect">
            <a:avLst/>
          </a:prstGeom>
          <a:noFill/>
          <a:ln/>
        </p:spPr>
        <p:txBody>
          <a:bodyPr wrap="square" lIns="0" tIns="0" rIns="0" bIns="0" rtlCol="0" anchor="t"/>
          <a:lstStyle/>
          <a:p>
            <a:pPr algn="l" indent="0" marL="0">
              <a:buNone/>
            </a:pPr>
            <a:r>
              <a:rPr lang="en-US" sz="6000" dirty="0">
                <a:ln w="25400">
                  <a:solidFill>
                    <a:srgbClr val="2B2D42"/>
                  </a:solidFill>
                </a:ln>
                <a:solidFill>
                  <a:schemeClr val="bg1"/>
                </a:solidFill>
                <a:latin typeface="Titan One" pitchFamily="34" charset="0"/>
                <a:ea typeface="Titan One" pitchFamily="34" charset="-122"/>
                <a:cs typeface="Titan One" pitchFamily="34" charset="-120"/>
              </a:rPr>
              <a:t>LEARN YOUR</a:t>
            </a:r>
            <a:endParaRPr lang="en-US" sz="6000" dirty="0"/>
          </a:p>
          <a:p>
            <a:pPr algn="l" indent="0" marL="0">
              <a:buNone/>
            </a:pPr>
            <a:r>
              <a:rPr lang="en-US" sz="6000" dirty="0">
                <a:ln w="25400">
                  <a:solidFill>
                    <a:srgbClr val="2B2D42"/>
                  </a:solidFill>
                </a:ln>
                <a:solidFill>
                  <a:schemeClr val="bg1"/>
                </a:solidFill>
                <a:latin typeface="Titan One" pitchFamily="34" charset="0"/>
                <a:ea typeface="Titan One" pitchFamily="34" charset="-122"/>
                <a:cs typeface="Titan One" pitchFamily="34" charset="-120"/>
              </a:rPr>
              <a:t>WAY OUT</a:t>
            </a:r>
            <a:endParaRPr lang="en-US" sz="6000" dirty="0"/>
          </a:p>
        </p:txBody>
      </p:sp>
      <p:sp>
        <p:nvSpPr>
          <p:cNvPr id="5" name="Text 3"/>
          <p:cNvSpPr txBox="1"/>
          <p:nvPr/>
        </p:nvSpPr>
        <p:spPr>
          <a:xfrm>
            <a:off x="640080" y="3310128"/>
            <a:ext cx="5577840" cy="777240"/>
          </a:xfrm>
          <a:prstGeom prst="rect">
            <a:avLst/>
          </a:prstGeom>
          <a:noFill/>
          <a:ln/>
        </p:spPr>
        <p:txBody>
          <a:bodyPr wrap="square" lIns="0" tIns="0" rIns="0" bIns="0" rtlCol="0" anchor="t"/>
          <a:lstStyle/>
          <a:p>
            <a:pPr algn="l" indent="0" marL="0">
              <a:lnSpc>
                <a:spcPct val="105000"/>
              </a:lnSpc>
              <a:buNone/>
            </a:pPr>
            <a:r>
              <a:rPr lang="en-US" sz="1900" i="1" dirty="0">
                <a:solidFill>
                  <a:srgbClr val="2B2D42"/>
                </a:solidFill>
              </a:rPr>
              <a:t>Every learning game is a quiz in a costume.</a:t>
            </a:r>
            <a:endParaRPr lang="en-US" sz="1900" dirty="0"/>
          </a:p>
          <a:p>
            <a:pPr algn="l" indent="0" marL="0">
              <a:lnSpc>
                <a:spcPct val="105000"/>
              </a:lnSpc>
              <a:buNone/>
            </a:pPr>
            <a:r>
              <a:rPr lang="en-US" sz="1900" i="1" dirty="0">
                <a:solidFill>
                  <a:srgbClr val="2B2D42"/>
                </a:solidFill>
              </a:rPr>
              <a:t>In ours, </a:t>
            </a:r>
            <a:pPr algn="l" indent="0" marL="0">
              <a:lnSpc>
                <a:spcPct val="105000"/>
              </a:lnSpc>
              <a:buNone/>
            </a:pPr>
            <a:r>
              <a:rPr lang="en-US" sz="1900" b="1" i="1" dirty="0">
                <a:solidFill>
                  <a:srgbClr val="FF4FA0"/>
                </a:solidFill>
              </a:rPr>
              <a:t>the maze is the quiz.</a:t>
            </a:r>
            <a:endParaRPr lang="en-US" sz="1900" dirty="0"/>
          </a:p>
        </p:txBody>
      </p:sp>
      <p:sp>
        <p:nvSpPr>
          <p:cNvPr id="6" name="Shape 4"/>
          <p:cNvSpPr/>
          <p:nvPr/>
        </p:nvSpPr>
        <p:spPr>
          <a:xfrm>
            <a:off x="640080" y="4315968"/>
            <a:ext cx="1097280" cy="914400"/>
          </a:xfrm>
          <a:prstGeom prst="roundRect">
            <a:avLst>
              <a:gd name="adj" fmla="val 16000"/>
            </a:avLst>
          </a:prstGeom>
          <a:solidFill>
            <a:srgbClr val="FFFFFF"/>
          </a:solidFill>
          <a:ln/>
          <a:effectLst>
            <a:outerShdw sx="100000" sy="100000" kx="0" ky="0" algn="bl" rotWithShape="0" blurRad="127000" dist="38100" dir="5400000">
              <a:srgbClr val="2B2D42">
                <a:alpha val="14000"/>
              </a:srgbClr>
            </a:outerShdw>
          </a:effectLst>
        </p:spPr>
      </p:sp>
      <p:sp>
        <p:nvSpPr>
          <p:cNvPr id="7" name="Text 5"/>
          <p:cNvSpPr txBox="1"/>
          <p:nvPr/>
        </p:nvSpPr>
        <p:spPr>
          <a:xfrm>
            <a:off x="804672" y="4443984"/>
            <a:ext cx="822960" cy="201168"/>
          </a:xfrm>
          <a:prstGeom prst="rect">
            <a:avLst/>
          </a:prstGeom>
          <a:noFill/>
          <a:ln/>
        </p:spPr>
        <p:txBody>
          <a:bodyPr wrap="square" lIns="0" tIns="0" rIns="0" bIns="0" rtlCol="0" anchor="t"/>
          <a:lstStyle/>
          <a:p>
            <a:pPr algn="l" indent="0" marL="0">
              <a:buNone/>
            </a:pPr>
            <a:r>
              <a:rPr lang="en-US" sz="1000" b="1" spc="150" kern="0" dirty="0">
                <a:solidFill>
                  <a:srgbClr val="FF4FA0"/>
                </a:solidFill>
              </a:rPr>
              <a:t>TEAM</a:t>
            </a:r>
            <a:endParaRPr lang="en-US" sz="1000" dirty="0"/>
          </a:p>
        </p:txBody>
      </p:sp>
      <p:sp>
        <p:nvSpPr>
          <p:cNvPr id="8" name="Text 6"/>
          <p:cNvSpPr txBox="1"/>
          <p:nvPr/>
        </p:nvSpPr>
        <p:spPr>
          <a:xfrm>
            <a:off x="804672" y="4663440"/>
            <a:ext cx="822960" cy="457200"/>
          </a:xfrm>
          <a:prstGeom prst="rect">
            <a:avLst/>
          </a:prstGeom>
          <a:noFill/>
          <a:ln/>
        </p:spPr>
        <p:txBody>
          <a:bodyPr wrap="square" lIns="0" tIns="0" rIns="0" bIns="0" rtlCol="0" anchor="t"/>
          <a:lstStyle/>
          <a:p>
            <a:pPr algn="l" indent="0" marL="0">
              <a:buNone/>
            </a:pPr>
            <a:r>
              <a:rPr lang="en-US" sz="1500" b="1" dirty="0">
                <a:solidFill>
                  <a:srgbClr val="2B2D42"/>
                </a:solidFill>
              </a:rPr>
              <a:t>Solo</a:t>
            </a:r>
            <a:endParaRPr lang="en-US" sz="1500" dirty="0"/>
          </a:p>
        </p:txBody>
      </p:sp>
      <p:sp>
        <p:nvSpPr>
          <p:cNvPr id="9" name="Shape 7"/>
          <p:cNvSpPr/>
          <p:nvPr/>
        </p:nvSpPr>
        <p:spPr>
          <a:xfrm>
            <a:off x="1920240" y="4315968"/>
            <a:ext cx="3017520" cy="914400"/>
          </a:xfrm>
          <a:prstGeom prst="roundRect">
            <a:avLst>
              <a:gd name="adj" fmla="val 16000"/>
            </a:avLst>
          </a:prstGeom>
          <a:solidFill>
            <a:srgbClr val="FFFFFF"/>
          </a:solidFill>
          <a:ln/>
          <a:effectLst>
            <a:outerShdw sx="100000" sy="100000" kx="0" ky="0" algn="bl" rotWithShape="0" blurRad="127000" dist="38100" dir="5400000">
              <a:srgbClr val="2B2D42">
                <a:alpha val="14000"/>
              </a:srgbClr>
            </a:outerShdw>
          </a:effectLst>
        </p:spPr>
      </p:sp>
      <p:sp>
        <p:nvSpPr>
          <p:cNvPr id="10" name="Text 8"/>
          <p:cNvSpPr txBox="1"/>
          <p:nvPr/>
        </p:nvSpPr>
        <p:spPr>
          <a:xfrm>
            <a:off x="2084832" y="4443984"/>
            <a:ext cx="2743200" cy="201168"/>
          </a:xfrm>
          <a:prstGeom prst="rect">
            <a:avLst/>
          </a:prstGeom>
          <a:noFill/>
          <a:ln/>
        </p:spPr>
        <p:txBody>
          <a:bodyPr wrap="square" lIns="0" tIns="0" rIns="0" bIns="0" rtlCol="0" anchor="t"/>
          <a:lstStyle/>
          <a:p>
            <a:pPr algn="l" indent="0" marL="0">
              <a:buNone/>
            </a:pPr>
            <a:r>
              <a:rPr lang="en-US" sz="1000" b="1" spc="150" kern="0" dirty="0">
                <a:solidFill>
                  <a:srgbClr val="FF4FA0"/>
                </a:solidFill>
              </a:rPr>
              <a:t>PROJECT</a:t>
            </a:r>
            <a:endParaRPr lang="en-US" sz="1000" dirty="0"/>
          </a:p>
        </p:txBody>
      </p:sp>
      <p:sp>
        <p:nvSpPr>
          <p:cNvPr id="11" name="Text 9"/>
          <p:cNvSpPr txBox="1"/>
          <p:nvPr/>
        </p:nvSpPr>
        <p:spPr>
          <a:xfrm>
            <a:off x="2084832" y="4663440"/>
            <a:ext cx="2743200" cy="457200"/>
          </a:xfrm>
          <a:prstGeom prst="rect">
            <a:avLst/>
          </a:prstGeom>
          <a:noFill/>
          <a:ln/>
        </p:spPr>
        <p:txBody>
          <a:bodyPr wrap="square" lIns="0" tIns="0" rIns="0" bIns="0" rtlCol="0" anchor="t"/>
          <a:lstStyle/>
          <a:p>
            <a:pPr algn="l" indent="0" marL="0">
              <a:buNone/>
            </a:pPr>
            <a:r>
              <a:rPr lang="en-US" sz="1500" b="1" dirty="0">
                <a:solidFill>
                  <a:srgbClr val="2B2D42"/>
                </a:solidFill>
              </a:rPr>
              <a:t>PL05 – Learn Your Way Out</a:t>
            </a:r>
            <a:endParaRPr lang="en-US" sz="1500" dirty="0"/>
          </a:p>
        </p:txBody>
      </p:sp>
      <p:sp>
        <p:nvSpPr>
          <p:cNvPr id="12" name="Shape 10"/>
          <p:cNvSpPr/>
          <p:nvPr/>
        </p:nvSpPr>
        <p:spPr>
          <a:xfrm>
            <a:off x="5120640" y="4315968"/>
            <a:ext cx="1280160" cy="914400"/>
          </a:xfrm>
          <a:prstGeom prst="roundRect">
            <a:avLst>
              <a:gd name="adj" fmla="val 16000"/>
            </a:avLst>
          </a:prstGeom>
          <a:solidFill>
            <a:srgbClr val="FFFFFF"/>
          </a:solidFill>
          <a:ln/>
          <a:effectLst>
            <a:outerShdw sx="100000" sy="100000" kx="0" ky="0" algn="bl" rotWithShape="0" blurRad="127000" dist="38100" dir="5400000">
              <a:srgbClr val="2B2D42">
                <a:alpha val="14000"/>
              </a:srgbClr>
            </a:outerShdw>
          </a:effectLst>
        </p:spPr>
      </p:sp>
      <p:sp>
        <p:nvSpPr>
          <p:cNvPr id="13" name="Text 11"/>
          <p:cNvSpPr txBox="1"/>
          <p:nvPr/>
        </p:nvSpPr>
        <p:spPr>
          <a:xfrm>
            <a:off x="5285232" y="4443984"/>
            <a:ext cx="1005840" cy="201168"/>
          </a:xfrm>
          <a:prstGeom prst="rect">
            <a:avLst/>
          </a:prstGeom>
          <a:noFill/>
          <a:ln/>
        </p:spPr>
        <p:txBody>
          <a:bodyPr wrap="square" lIns="0" tIns="0" rIns="0" bIns="0" rtlCol="0" anchor="t"/>
          <a:lstStyle/>
          <a:p>
            <a:pPr algn="l" indent="0" marL="0">
              <a:buNone/>
            </a:pPr>
            <a:r>
              <a:rPr lang="en-US" sz="1000" b="1" spc="150" kern="0" dirty="0">
                <a:solidFill>
                  <a:srgbClr val="FF4FA0"/>
                </a:solidFill>
              </a:rPr>
              <a:t>TRACK</a:t>
            </a:r>
            <a:endParaRPr lang="en-US" sz="1000" dirty="0"/>
          </a:p>
        </p:txBody>
      </p:sp>
      <p:sp>
        <p:nvSpPr>
          <p:cNvPr id="14" name="Text 12"/>
          <p:cNvSpPr txBox="1"/>
          <p:nvPr/>
        </p:nvSpPr>
        <p:spPr>
          <a:xfrm>
            <a:off x="5285232" y="4663440"/>
            <a:ext cx="1005840" cy="457200"/>
          </a:xfrm>
          <a:prstGeom prst="rect">
            <a:avLst/>
          </a:prstGeom>
          <a:noFill/>
          <a:ln/>
        </p:spPr>
        <p:txBody>
          <a:bodyPr wrap="square" lIns="0" tIns="0" rIns="0" bIns="0" rtlCol="0" anchor="t"/>
          <a:lstStyle/>
          <a:p>
            <a:pPr algn="l" indent="0" marL="0">
              <a:buNone/>
            </a:pPr>
            <a:r>
              <a:rPr lang="en-US" sz="1500" b="1" dirty="0">
                <a:solidFill>
                  <a:srgbClr val="2B2D42"/>
                </a:solidFill>
              </a:rPr>
              <a:t>Play Lab</a:t>
            </a:r>
            <a:endParaRPr lang="en-US" sz="1500" dirty="0"/>
          </a:p>
        </p:txBody>
      </p:sp>
      <p:sp>
        <p:nvSpPr>
          <p:cNvPr id="15" name="Text 13"/>
          <p:cNvSpPr txBox="1"/>
          <p:nvPr/>
        </p:nvSpPr>
        <p:spPr>
          <a:xfrm>
            <a:off x="640080" y="5449824"/>
            <a:ext cx="1687068" cy="347472"/>
          </a:xfrm>
          <a:prstGeom prst="roundRect">
            <a:avLst>
              <a:gd name="adj" fmla="val 50000"/>
            </a:avLst>
          </a:prstGeom>
          <a:solidFill>
            <a:srgbClr val="2B2D42"/>
          </a:solidFill>
          <a:ln/>
        </p:spPr>
        <p:txBody>
          <a:bodyPr wrap="square" lIns="0" tIns="0" rIns="0" bIns="0" rtlCol="0" anchor="ctr"/>
          <a:lstStyle/>
          <a:p>
            <a:pPr algn="ctr" indent="0" marL="0">
              <a:buNone/>
            </a:pPr>
            <a:r>
              <a:rPr lang="en-US" sz="1150" b="1" dirty="0">
                <a:solidFill>
                  <a:srgbClr val="FFFFFF"/>
                </a:solidFill>
              </a:rPr>
              <a:t>3D browser game</a:t>
            </a:r>
            <a:endParaRPr lang="en-US" sz="1150" dirty="0"/>
          </a:p>
        </p:txBody>
      </p:sp>
      <p:sp>
        <p:nvSpPr>
          <p:cNvPr id="16" name="Text 14"/>
          <p:cNvSpPr txBox="1"/>
          <p:nvPr/>
        </p:nvSpPr>
        <p:spPr>
          <a:xfrm>
            <a:off x="2455164" y="5449824"/>
            <a:ext cx="2034540" cy="347472"/>
          </a:xfrm>
          <a:prstGeom prst="roundRect">
            <a:avLst>
              <a:gd name="adj" fmla="val 50000"/>
            </a:avLst>
          </a:prstGeom>
          <a:solidFill>
            <a:srgbClr val="2B2D42"/>
          </a:solidFill>
          <a:ln/>
        </p:spPr>
        <p:txBody>
          <a:bodyPr wrap="square" lIns="0" tIns="0" rIns="0" bIns="0" rtlCol="0" anchor="ctr"/>
          <a:lstStyle/>
          <a:p>
            <a:pPr algn="ctr" indent="0" marL="0">
              <a:buNone/>
            </a:pPr>
            <a:r>
              <a:rPr lang="en-US" sz="1150" b="1" dirty="0">
                <a:solidFill>
                  <a:srgbClr val="FFFFFF"/>
                </a:solidFill>
              </a:rPr>
              <a:t>AI custom questions</a:t>
            </a:r>
            <a:endParaRPr lang="en-US" sz="1150" dirty="0"/>
          </a:p>
        </p:txBody>
      </p:sp>
      <p:sp>
        <p:nvSpPr>
          <p:cNvPr id="17" name="Text 15"/>
          <p:cNvSpPr txBox="1"/>
          <p:nvPr/>
        </p:nvSpPr>
        <p:spPr>
          <a:xfrm>
            <a:off x="640080" y="5888736"/>
            <a:ext cx="1773936" cy="347472"/>
          </a:xfrm>
          <a:prstGeom prst="roundRect">
            <a:avLst>
              <a:gd name="adj" fmla="val 50000"/>
            </a:avLst>
          </a:prstGeom>
          <a:solidFill>
            <a:srgbClr val="2B2D42"/>
          </a:solidFill>
          <a:ln/>
        </p:spPr>
        <p:txBody>
          <a:bodyPr wrap="square" lIns="0" tIns="0" rIns="0" bIns="0" rtlCol="0" anchor="ctr"/>
          <a:lstStyle/>
          <a:p>
            <a:pPr algn="ctr" indent="0" marL="0">
              <a:buNone/>
            </a:pPr>
            <a:r>
              <a:rPr lang="en-US" sz="1150" b="1" dirty="0">
                <a:solidFill>
                  <a:srgbClr val="FFFFFF"/>
                </a:solidFill>
              </a:rPr>
              <a:t>Live multiplayer</a:t>
            </a:r>
            <a:endParaRPr lang="en-US" sz="1150" dirty="0"/>
          </a:p>
        </p:txBody>
      </p:sp>
      <p:sp>
        <p:nvSpPr>
          <p:cNvPr id="18" name="Text 16"/>
          <p:cNvSpPr txBox="1"/>
          <p:nvPr/>
        </p:nvSpPr>
        <p:spPr>
          <a:xfrm>
            <a:off x="2542032" y="5888736"/>
            <a:ext cx="2034540" cy="347472"/>
          </a:xfrm>
          <a:prstGeom prst="roundRect">
            <a:avLst>
              <a:gd name="adj" fmla="val 50000"/>
            </a:avLst>
          </a:prstGeom>
          <a:solidFill>
            <a:srgbClr val="2B2D42"/>
          </a:solidFill>
          <a:ln/>
        </p:spPr>
        <p:txBody>
          <a:bodyPr wrap="square" lIns="0" tIns="0" rIns="0" bIns="0" rtlCol="0" anchor="ctr"/>
          <a:lstStyle/>
          <a:p>
            <a:pPr algn="ctr" indent="0" marL="0">
              <a:buNone/>
            </a:pPr>
            <a:r>
              <a:rPr lang="en-US" sz="1150" b="1" dirty="0">
                <a:solidFill>
                  <a:srgbClr val="FFFFFF"/>
                </a:solidFill>
              </a:rPr>
              <a:t>Adaptive difficulty</a:t>
            </a:r>
            <a:endParaRPr lang="en-US" sz="1150" dirty="0"/>
          </a:p>
        </p:txBody>
      </p:sp>
      <p:pic>
        <p:nvPicPr>
          <p:cNvPr id="19" name="hub" descr="Game hub with domain portals and difficulty pads">    </p:cNvPr>
          <p:cNvPicPr>
            <a:picLocks noChangeAspect="1"/>
          </p:cNvPicPr>
          <p:nvPr/>
        </p:nvPicPr>
        <p:blipFill>
          <a:blip r:embed="rId1"/>
          <a:stretch>
            <a:fillRect/>
          </a:stretch>
        </p:blipFill>
        <p:spPr>
          <a:xfrm rot="-240000">
            <a:off x="7065607" y="545935"/>
            <a:ext cx="4659705" cy="2748352"/>
          </a:xfrm>
          <a:prstGeom prst="rect">
            <a:avLst/>
          </a:prstGeom>
        </p:spPr>
      </p:pic>
      <p:pic>
        <p:nvPicPr>
          <p:cNvPr id="20" name="doorrush" descr="Door Rush room: run through the door with the right answer">    </p:cNvPr>
          <p:cNvPicPr>
            <a:picLocks noChangeAspect="1"/>
          </p:cNvPicPr>
          <p:nvPr/>
        </p:nvPicPr>
        <p:blipFill>
          <a:blip r:embed="rId2"/>
          <a:stretch>
            <a:fillRect/>
          </a:stretch>
        </p:blipFill>
        <p:spPr>
          <a:xfrm rot="150000">
            <a:off x="6670699" y="2921659"/>
            <a:ext cx="5038043" cy="2939746"/>
          </a:xfrm>
          <a:prstGeom prst="rect">
            <a:avLst/>
          </a:prstGeom>
        </p:spPr>
      </p:pic>
      <p:pic>
        <p:nvPicPr>
          <p:cNvPr id="21" name="Image 2" descr="Bean mascot">    </p:cNvPr>
          <p:cNvPicPr>
            <a:picLocks noChangeAspect="1"/>
          </p:cNvPicPr>
          <p:nvPr/>
        </p:nvPicPr>
        <p:blipFill>
          <a:blip r:embed="rId3"/>
          <a:stretch>
            <a:fillRect/>
          </a:stretch>
        </p:blipFill>
        <p:spPr>
          <a:xfrm rot="600000">
            <a:off x="4434840" y="2103120"/>
            <a:ext cx="603504" cy="1033272"/>
          </a:xfrm>
          <a:prstGeom prst="rect">
            <a:avLst/>
          </a:prstGeom>
        </p:spPr>
      </p:pic>
      <p:sp>
        <p:nvSpPr>
          <p:cNvPr id="22" name="prototype-label"/>
          <p:cNvSpPr txBox="1"/>
          <p:nvPr/>
        </p:nvSpPr>
        <p:spPr>
          <a:xfrm>
            <a:off x="6949440" y="5870448"/>
            <a:ext cx="2148840" cy="274320"/>
          </a:xfrm>
          <a:prstGeom prst="roundRect">
            <a:avLst>
              <a:gd name="adj" fmla="val 50000"/>
            </a:avLst>
          </a:prstGeom>
          <a:solidFill>
            <a:srgbClr val="2B2D42"/>
          </a:solidFill>
          <a:ln/>
          <a:effectLst>
            <a:outerShdw sx="100000" sy="100000" kx="0" ky="0" algn="bl" rotWithShape="0" blurRad="127000" dist="38100" dir="5400000">
              <a:srgbClr val="2B2D42">
                <a:alpha val="14000"/>
              </a:srgbClr>
            </a:outerShdw>
          </a:effectLst>
        </p:spPr>
        <p:txBody>
          <a:bodyPr wrap="square" lIns="0" tIns="0" rIns="0" bIns="0" rtlCol="0" anchor="ctr"/>
          <a:lstStyle/>
          <a:p>
            <a:pPr algn="ctr" indent="0" marL="0">
              <a:buNone/>
            </a:pPr>
            <a:r>
              <a:rPr lang="en-US" sz="950" b="1" spc="100" kern="0" dirty="0">
                <a:solidFill>
                  <a:srgbClr val="FFFFFF"/>
                </a:solidFill>
              </a:rPr>
              <a:t>EARLY CONCEPT PROTOTYPE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84048"/>
            <a:ext cx="2973629" cy="292608"/>
          </a:xfrm>
          <a:prstGeom prst="roundRect">
            <a:avLst>
              <a:gd name="adj" fmla="val 50000"/>
            </a:avLst>
          </a:prstGeom>
          <a:solidFill>
            <a:srgbClr val="FF4FA0"/>
          </a:solidFill>
          <a:ln/>
        </p:spPr>
        <p:txBody>
          <a:bodyPr wrap="square" lIns="0" tIns="0" rIns="0" bIns="0" rtlCol="0" anchor="ctr"/>
          <a:lstStyle/>
          <a:p>
            <a:pPr algn="ctr" indent="0" marL="0">
              <a:buNone/>
            </a:pPr>
            <a:r>
              <a:rPr lang="en-US" sz="1050" b="1" spc="150" kern="0" dirty="0">
                <a:solidFill>
                  <a:srgbClr val="FFFFFF"/>
                </a:solidFill>
              </a:rPr>
              <a:t>02  ·  PROPOSED SOLUTION</a:t>
            </a:r>
            <a:endParaRPr lang="en-US" sz="1050" dirty="0"/>
          </a:p>
        </p:txBody>
      </p:sp>
      <p:sp>
        <p:nvSpPr>
          <p:cNvPr id="3" name="Text 0"/>
          <p:cNvSpPr/>
          <p:nvPr>
            <p:ph idx="100" type="title" hasCustomPrompt="1"/>
          </p:nvPr>
        </p:nvSpPr>
        <p:spPr>
          <a:xfrm>
            <a:off x="548640" y="731520"/>
            <a:ext cx="11064240" cy="713232"/>
          </a:xfrm>
          <a:prstGeom prst="rect">
            <a:avLst/>
          </a:prstGeom>
          <a:noFill/>
          <a:ln/>
        </p:spPr>
        <p:txBody>
          <a:bodyPr wrap="square" lIns="0" tIns="0" rIns="0" bIns="0" rtlCol="0" anchor="ctr"/>
          <a:lstStyle/>
          <a:p>
            <a:pPr algn="l" indent="0" marL="0">
              <a:buNone/>
            </a:pPr>
            <a:r>
              <a:rPr lang="en-US" sz="3400" dirty="0">
                <a:solidFill>
                  <a:schemeClr val="tx1"/>
                </a:solidFill>
                <a:latin typeface="Titan One" pitchFamily="34" charset="0"/>
                <a:ea typeface="Titan One" pitchFamily="34" charset="-122"/>
                <a:cs typeface="Titan One" pitchFamily="34" charset="-120"/>
              </a:rPr>
              <a:t>The maze is the quiz</a:t>
            </a:r>
            <a:endParaRPr lang="en-US" sz="3400" dirty="0"/>
          </a:p>
        </p:txBody>
      </p:sp>
      <p:sp>
        <p:nvSpPr>
          <p:cNvPr id="4" name="Text 2"/>
          <p:cNvSpPr txBox="1"/>
          <p:nvPr/>
        </p:nvSpPr>
        <p:spPr>
          <a:xfrm>
            <a:off x="548640" y="1444752"/>
            <a:ext cx="10972800" cy="329184"/>
          </a:xfrm>
          <a:prstGeom prst="rect">
            <a:avLst/>
          </a:prstGeom>
          <a:noFill/>
          <a:ln/>
        </p:spPr>
        <p:txBody>
          <a:bodyPr wrap="square" lIns="0" tIns="0" rIns="0" bIns="0" rtlCol="0" anchor="t"/>
          <a:lstStyle/>
          <a:p>
            <a:pPr algn="l" indent="0" marL="0">
              <a:buNone/>
            </a:pPr>
            <a:r>
              <a:rPr lang="en-US" sz="1500" i="1" dirty="0">
                <a:solidFill>
                  <a:srgbClr val="5B5F80"/>
                </a:solidFill>
              </a:rPr>
              <a:t>Most learning games pause the fun for a quiz popup. Here, every answer is a place you run to.</a:t>
            </a:r>
            <a:endParaRPr lang="en-US" sz="1500" dirty="0"/>
          </a:p>
        </p:txBody>
      </p:sp>
      <p:sp>
        <p:nvSpPr>
          <p:cNvPr id="5" name="Shape 3"/>
          <p:cNvSpPr/>
          <p:nvPr/>
        </p:nvSpPr>
        <p:spPr>
          <a:xfrm>
            <a:off x="548640" y="2011680"/>
            <a:ext cx="457200" cy="457200"/>
          </a:xfrm>
          <a:prstGeom prst="ellipse">
            <a:avLst/>
          </a:prstGeom>
          <a:solidFill>
            <a:srgbClr val="FFE3F0"/>
          </a:solidFill>
          <a:ln/>
        </p:spPr>
      </p:sp>
      <p:pic>
        <p:nvPicPr>
          <p:cNvPr id="6" name="Image 0" descr="preencoded.png">    </p:cNvPr>
          <p:cNvPicPr>
            <a:picLocks noChangeAspect="1"/>
          </p:cNvPicPr>
          <p:nvPr/>
        </p:nvPicPr>
        <p:blipFill>
          <a:blip r:embed="rId1"/>
          <a:stretch>
            <a:fillRect/>
          </a:stretch>
        </p:blipFill>
        <p:spPr>
          <a:xfrm>
            <a:off x="649224" y="2112264"/>
            <a:ext cx="256032" cy="256032"/>
          </a:xfrm>
          <a:prstGeom prst="rect">
            <a:avLst/>
          </a:prstGeom>
        </p:spPr>
      </p:pic>
      <p:sp>
        <p:nvSpPr>
          <p:cNvPr id="7" name="Text 4"/>
          <p:cNvSpPr txBox="1"/>
          <p:nvPr/>
        </p:nvSpPr>
        <p:spPr>
          <a:xfrm>
            <a:off x="1152144" y="1993392"/>
            <a:ext cx="4206240" cy="237744"/>
          </a:xfrm>
          <a:prstGeom prst="rect">
            <a:avLst/>
          </a:prstGeom>
          <a:noFill/>
          <a:ln/>
        </p:spPr>
        <p:txBody>
          <a:bodyPr wrap="square" lIns="0" tIns="0" rIns="0" bIns="0" rtlCol="0" anchor="t"/>
          <a:lstStyle/>
          <a:p>
            <a:pPr algn="l" indent="0" marL="0">
              <a:buNone/>
            </a:pPr>
            <a:r>
              <a:rPr lang="en-US" sz="1400" b="1" dirty="0">
                <a:solidFill>
                  <a:srgbClr val="2B2D42"/>
                </a:solidFill>
              </a:rPr>
              <a:t>Answer with your feet</a:t>
            </a:r>
            <a:endParaRPr lang="en-US" sz="1400" dirty="0"/>
          </a:p>
        </p:txBody>
      </p:sp>
      <p:sp>
        <p:nvSpPr>
          <p:cNvPr id="8" name="Text 5"/>
          <p:cNvSpPr txBox="1"/>
          <p:nvPr/>
        </p:nvSpPr>
        <p:spPr>
          <a:xfrm>
            <a:off x="1152144" y="2249424"/>
            <a:ext cx="4343400" cy="237744"/>
          </a:xfrm>
          <a:prstGeom prst="rect">
            <a:avLst/>
          </a:prstGeom>
          <a:noFill/>
          <a:ln/>
        </p:spPr>
        <p:txBody>
          <a:bodyPr wrap="square" lIns="0" tIns="0" rIns="0" bIns="0" rtlCol="0" anchor="t"/>
          <a:lstStyle/>
          <a:p>
            <a:pPr algn="l" indent="0" marL="0">
              <a:buNone/>
            </a:pPr>
            <a:r>
              <a:rPr lang="en-US" sz="1150" dirty="0">
                <a:solidFill>
                  <a:srgbClr val="5B5F80"/>
                </a:solidFill>
              </a:rPr>
              <a:t>5 room types turn every question type into movement.</a:t>
            </a:r>
            <a:endParaRPr lang="en-US" sz="1150" dirty="0"/>
          </a:p>
        </p:txBody>
      </p:sp>
      <p:sp>
        <p:nvSpPr>
          <p:cNvPr id="9" name="Shape 6"/>
          <p:cNvSpPr/>
          <p:nvPr/>
        </p:nvSpPr>
        <p:spPr>
          <a:xfrm>
            <a:off x="548640" y="2596896"/>
            <a:ext cx="457200" cy="457200"/>
          </a:xfrm>
          <a:prstGeom prst="ellipse">
            <a:avLst/>
          </a:prstGeom>
          <a:solidFill>
            <a:srgbClr val="FFF3CF"/>
          </a:solidFill>
          <a:ln/>
        </p:spPr>
      </p:sp>
      <p:pic>
        <p:nvPicPr>
          <p:cNvPr id="10" name="Image 1" descr="preencoded.png">    </p:cNvPr>
          <p:cNvPicPr>
            <a:picLocks noChangeAspect="1"/>
          </p:cNvPicPr>
          <p:nvPr/>
        </p:nvPicPr>
        <p:blipFill>
          <a:blip r:embed="rId2"/>
          <a:stretch>
            <a:fillRect/>
          </a:stretch>
        </p:blipFill>
        <p:spPr>
          <a:xfrm>
            <a:off x="649224" y="2697480"/>
            <a:ext cx="256032" cy="256032"/>
          </a:xfrm>
          <a:prstGeom prst="rect">
            <a:avLst/>
          </a:prstGeom>
        </p:spPr>
      </p:pic>
      <p:sp>
        <p:nvSpPr>
          <p:cNvPr id="11" name="Text 7"/>
          <p:cNvSpPr txBox="1"/>
          <p:nvPr/>
        </p:nvSpPr>
        <p:spPr>
          <a:xfrm>
            <a:off x="1152144" y="2578608"/>
            <a:ext cx="4206240" cy="237744"/>
          </a:xfrm>
          <a:prstGeom prst="rect">
            <a:avLst/>
          </a:prstGeom>
          <a:noFill/>
          <a:ln/>
        </p:spPr>
        <p:txBody>
          <a:bodyPr wrap="square" lIns="0" tIns="0" rIns="0" bIns="0" rtlCol="0" anchor="t"/>
          <a:lstStyle/>
          <a:p>
            <a:pPr algn="l" indent="0" marL="0">
              <a:buNone/>
            </a:pPr>
            <a:r>
              <a:rPr lang="en-US" sz="1400" b="1" dirty="0">
                <a:solidFill>
                  <a:srgbClr val="2B2D42"/>
                </a:solidFill>
              </a:rPr>
              <a:t>Wrong turns teach</a:t>
            </a:r>
            <a:endParaRPr lang="en-US" sz="1400" dirty="0"/>
          </a:p>
        </p:txBody>
      </p:sp>
      <p:sp>
        <p:nvSpPr>
          <p:cNvPr id="12" name="Text 8"/>
          <p:cNvSpPr txBox="1"/>
          <p:nvPr/>
        </p:nvSpPr>
        <p:spPr>
          <a:xfrm>
            <a:off x="1152144" y="2834640"/>
            <a:ext cx="4343400" cy="237744"/>
          </a:xfrm>
          <a:prstGeom prst="rect">
            <a:avLst/>
          </a:prstGeom>
          <a:noFill/>
          <a:ln/>
        </p:spPr>
        <p:txBody>
          <a:bodyPr wrap="square" lIns="0" tIns="0" rIns="0" bIns="0" rtlCol="0" anchor="t"/>
          <a:lstStyle/>
          <a:p>
            <a:pPr algn="l" indent="0" marL="0">
              <a:buNone/>
            </a:pPr>
            <a:r>
              <a:rPr lang="en-US" sz="1150" dirty="0">
                <a:solidFill>
                  <a:srgbClr val="5B5F80"/>
                </a:solidFill>
              </a:rPr>
              <a:t>A detour shows the answer, why, a worked example, a retry.</a:t>
            </a:r>
            <a:endParaRPr lang="en-US" sz="1150" dirty="0"/>
          </a:p>
        </p:txBody>
      </p:sp>
      <p:sp>
        <p:nvSpPr>
          <p:cNvPr id="13" name="Shape 9"/>
          <p:cNvSpPr/>
          <p:nvPr/>
        </p:nvSpPr>
        <p:spPr>
          <a:xfrm>
            <a:off x="548640" y="3182112"/>
            <a:ext cx="457200" cy="457200"/>
          </a:xfrm>
          <a:prstGeom prst="ellipse">
            <a:avLst/>
          </a:prstGeom>
          <a:solidFill>
            <a:srgbClr val="DDF6E5"/>
          </a:solidFill>
          <a:ln/>
        </p:spPr>
      </p:sp>
      <p:pic>
        <p:nvPicPr>
          <p:cNvPr id="14" name="Image 2" descr="preencoded.png">    </p:cNvPr>
          <p:cNvPicPr>
            <a:picLocks noChangeAspect="1"/>
          </p:cNvPicPr>
          <p:nvPr/>
        </p:nvPicPr>
        <p:blipFill>
          <a:blip r:embed="rId3"/>
          <a:stretch>
            <a:fillRect/>
          </a:stretch>
        </p:blipFill>
        <p:spPr>
          <a:xfrm>
            <a:off x="649224" y="3282696"/>
            <a:ext cx="256032" cy="256032"/>
          </a:xfrm>
          <a:prstGeom prst="rect">
            <a:avLst/>
          </a:prstGeom>
        </p:spPr>
      </p:pic>
      <p:sp>
        <p:nvSpPr>
          <p:cNvPr id="15" name="Text 10"/>
          <p:cNvSpPr txBox="1"/>
          <p:nvPr/>
        </p:nvSpPr>
        <p:spPr>
          <a:xfrm>
            <a:off x="1152144" y="3163824"/>
            <a:ext cx="4206240" cy="237744"/>
          </a:xfrm>
          <a:prstGeom prst="rect">
            <a:avLst/>
          </a:prstGeom>
          <a:noFill/>
          <a:ln/>
        </p:spPr>
        <p:txBody>
          <a:bodyPr wrap="square" lIns="0" tIns="0" rIns="0" bIns="0" rtlCol="0" anchor="t"/>
          <a:lstStyle/>
          <a:p>
            <a:pPr algn="l" indent="0" marL="0">
              <a:buNone/>
            </a:pPr>
            <a:r>
              <a:rPr lang="en-US" sz="1400" b="1" dirty="0">
                <a:solidFill>
                  <a:srgbClr val="2B2D42"/>
                </a:solidFill>
              </a:rPr>
              <a:t>Adapts to every player</a:t>
            </a:r>
            <a:endParaRPr lang="en-US" sz="1400" dirty="0"/>
          </a:p>
        </p:txBody>
      </p:sp>
      <p:sp>
        <p:nvSpPr>
          <p:cNvPr id="16" name="Text 11"/>
          <p:cNvSpPr txBox="1"/>
          <p:nvPr/>
        </p:nvSpPr>
        <p:spPr>
          <a:xfrm>
            <a:off x="1152144" y="3419856"/>
            <a:ext cx="4343400" cy="237744"/>
          </a:xfrm>
          <a:prstGeom prst="rect">
            <a:avLst/>
          </a:prstGeom>
          <a:noFill/>
          <a:ln/>
        </p:spPr>
        <p:txBody>
          <a:bodyPr wrap="square" lIns="0" tIns="0" rIns="0" bIns="0" rtlCol="0" anchor="t"/>
          <a:lstStyle/>
          <a:p>
            <a:pPr algn="l" indent="0" marL="0">
              <a:buNone/>
            </a:pPr>
            <a:r>
              <a:rPr lang="en-US" sz="1150" dirty="0">
                <a:solidFill>
                  <a:srgbClr val="5B5F80"/>
                </a:solidFill>
              </a:rPr>
              <a:t>Harder after 2 right, easier after a miss; replay weak spots.</a:t>
            </a:r>
            <a:endParaRPr lang="en-US" sz="1150" dirty="0"/>
          </a:p>
        </p:txBody>
      </p:sp>
      <p:sp>
        <p:nvSpPr>
          <p:cNvPr id="17" name="Shape 12"/>
          <p:cNvSpPr/>
          <p:nvPr/>
        </p:nvSpPr>
        <p:spPr>
          <a:xfrm>
            <a:off x="548640" y="3767328"/>
            <a:ext cx="457200" cy="457200"/>
          </a:xfrm>
          <a:prstGeom prst="ellipse">
            <a:avLst/>
          </a:prstGeom>
          <a:solidFill>
            <a:srgbClr val="EAE2FF"/>
          </a:solidFill>
          <a:ln/>
        </p:spPr>
      </p:sp>
      <p:pic>
        <p:nvPicPr>
          <p:cNvPr id="18" name="Image 3" descr="preencoded.png">    </p:cNvPr>
          <p:cNvPicPr>
            <a:picLocks noChangeAspect="1"/>
          </p:cNvPicPr>
          <p:nvPr/>
        </p:nvPicPr>
        <p:blipFill>
          <a:blip r:embed="rId4"/>
          <a:stretch>
            <a:fillRect/>
          </a:stretch>
        </p:blipFill>
        <p:spPr>
          <a:xfrm>
            <a:off x="649224" y="3867912"/>
            <a:ext cx="256032" cy="256032"/>
          </a:xfrm>
          <a:prstGeom prst="rect">
            <a:avLst/>
          </a:prstGeom>
        </p:spPr>
      </p:pic>
      <p:sp>
        <p:nvSpPr>
          <p:cNvPr id="19" name="Text 13"/>
          <p:cNvSpPr txBox="1"/>
          <p:nvPr/>
        </p:nvSpPr>
        <p:spPr>
          <a:xfrm>
            <a:off x="1152144" y="3749040"/>
            <a:ext cx="4206240" cy="237744"/>
          </a:xfrm>
          <a:prstGeom prst="rect">
            <a:avLst/>
          </a:prstGeom>
          <a:noFill/>
          <a:ln/>
        </p:spPr>
        <p:txBody>
          <a:bodyPr wrap="square" lIns="0" tIns="0" rIns="0" bIns="0" rtlCol="0" anchor="t"/>
          <a:lstStyle/>
          <a:p>
            <a:pPr algn="l" indent="0" marL="0">
              <a:buNone/>
            </a:pPr>
            <a:r>
              <a:rPr lang="en-US" sz="1400" b="1" dirty="0">
                <a:solidFill>
                  <a:srgbClr val="2B2D42"/>
                </a:solidFill>
              </a:rPr>
              <a:t>AI custom questions</a:t>
            </a:r>
            <a:endParaRPr lang="en-US" sz="1400" dirty="0"/>
          </a:p>
        </p:txBody>
      </p:sp>
      <p:sp>
        <p:nvSpPr>
          <p:cNvPr id="20" name="Text 14"/>
          <p:cNvSpPr txBox="1"/>
          <p:nvPr/>
        </p:nvSpPr>
        <p:spPr>
          <a:xfrm>
            <a:off x="1152144" y="4005072"/>
            <a:ext cx="4343400" cy="237744"/>
          </a:xfrm>
          <a:prstGeom prst="rect">
            <a:avLst/>
          </a:prstGeom>
          <a:noFill/>
          <a:ln/>
        </p:spPr>
        <p:txBody>
          <a:bodyPr wrap="square" lIns="0" tIns="0" rIns="0" bIns="0" rtlCol="0" anchor="t"/>
          <a:lstStyle/>
          <a:p>
            <a:pPr algn="l" indent="0" marL="0">
              <a:buNone/>
            </a:pPr>
            <a:r>
              <a:rPr lang="en-US" sz="1150" dirty="0">
                <a:solidFill>
                  <a:srgbClr val="5B5F80"/>
                </a:solidFill>
              </a:rPr>
              <a:t>Type a topic or paste notes; DeepSeek builds a live pack.</a:t>
            </a:r>
            <a:endParaRPr lang="en-US" sz="1150" dirty="0"/>
          </a:p>
        </p:txBody>
      </p:sp>
      <p:sp>
        <p:nvSpPr>
          <p:cNvPr id="21" name="Shape 15"/>
          <p:cNvSpPr/>
          <p:nvPr/>
        </p:nvSpPr>
        <p:spPr>
          <a:xfrm>
            <a:off x="548640" y="4352544"/>
            <a:ext cx="457200" cy="457200"/>
          </a:xfrm>
          <a:prstGeom prst="ellipse">
            <a:avLst/>
          </a:prstGeom>
          <a:solidFill>
            <a:srgbClr val="DDF2FF"/>
          </a:solidFill>
          <a:ln/>
        </p:spPr>
      </p:sp>
      <p:pic>
        <p:nvPicPr>
          <p:cNvPr id="22" name="Image 4" descr="preencoded.png">    </p:cNvPr>
          <p:cNvPicPr>
            <a:picLocks noChangeAspect="1"/>
          </p:cNvPicPr>
          <p:nvPr/>
        </p:nvPicPr>
        <p:blipFill>
          <a:blip r:embed="rId5"/>
          <a:stretch>
            <a:fillRect/>
          </a:stretch>
        </p:blipFill>
        <p:spPr>
          <a:xfrm>
            <a:off x="649224" y="4453128"/>
            <a:ext cx="256032" cy="256032"/>
          </a:xfrm>
          <a:prstGeom prst="rect">
            <a:avLst/>
          </a:prstGeom>
        </p:spPr>
      </p:pic>
      <p:sp>
        <p:nvSpPr>
          <p:cNvPr id="23" name="Text 16"/>
          <p:cNvSpPr txBox="1"/>
          <p:nvPr/>
        </p:nvSpPr>
        <p:spPr>
          <a:xfrm>
            <a:off x="1152144" y="4334256"/>
            <a:ext cx="4206240" cy="237744"/>
          </a:xfrm>
          <a:prstGeom prst="rect">
            <a:avLst/>
          </a:prstGeom>
          <a:noFill/>
          <a:ln/>
        </p:spPr>
        <p:txBody>
          <a:bodyPr wrap="square" lIns="0" tIns="0" rIns="0" bIns="0" rtlCol="0" anchor="t"/>
          <a:lstStyle/>
          <a:p>
            <a:pPr algn="l" indent="0" marL="0">
              <a:buNone/>
            </a:pPr>
            <a:r>
              <a:rPr lang="en-US" sz="1400" b="1" dirty="0">
                <a:solidFill>
                  <a:srgbClr val="2B2D42"/>
                </a:solidFill>
              </a:rPr>
              <a:t>Live multiplayer races</a:t>
            </a:r>
            <a:endParaRPr lang="en-US" sz="1400" dirty="0"/>
          </a:p>
        </p:txBody>
      </p:sp>
      <p:sp>
        <p:nvSpPr>
          <p:cNvPr id="24" name="Text 17"/>
          <p:cNvSpPr txBox="1"/>
          <p:nvPr/>
        </p:nvSpPr>
        <p:spPr>
          <a:xfrm>
            <a:off x="1152144" y="4590288"/>
            <a:ext cx="4343400" cy="237744"/>
          </a:xfrm>
          <a:prstGeom prst="rect">
            <a:avLst/>
          </a:prstGeom>
          <a:noFill/>
          <a:ln/>
        </p:spPr>
        <p:txBody>
          <a:bodyPr wrap="square" lIns="0" tIns="0" rIns="0" bIns="0" rtlCol="0" anchor="t"/>
          <a:lstStyle/>
          <a:p>
            <a:pPr algn="l" indent="0" marL="0">
              <a:buNone/>
            </a:pPr>
            <a:r>
              <a:rPr lang="en-US" sz="1150" dirty="0">
                <a:solidFill>
                  <a:srgbClr val="5B5F80"/>
                </a:solidFill>
              </a:rPr>
              <a:t>Race friends through the same seeded maze as ghost beans.</a:t>
            </a:r>
            <a:endParaRPr lang="en-US" sz="1150" dirty="0"/>
          </a:p>
        </p:txBody>
      </p:sp>
      <p:sp>
        <p:nvSpPr>
          <p:cNvPr id="25" name="Shape 18"/>
          <p:cNvSpPr/>
          <p:nvPr/>
        </p:nvSpPr>
        <p:spPr>
          <a:xfrm>
            <a:off x="548640" y="4937760"/>
            <a:ext cx="457200" cy="457200"/>
          </a:xfrm>
          <a:prstGeom prst="ellipse">
            <a:avLst/>
          </a:prstGeom>
          <a:solidFill>
            <a:srgbClr val="FFE8D8"/>
          </a:solidFill>
          <a:ln/>
        </p:spPr>
      </p:sp>
      <p:pic>
        <p:nvPicPr>
          <p:cNvPr id="26" name="Image 5" descr="preencoded.png">    </p:cNvPr>
          <p:cNvPicPr>
            <a:picLocks noChangeAspect="1"/>
          </p:cNvPicPr>
          <p:nvPr/>
        </p:nvPicPr>
        <p:blipFill>
          <a:blip r:embed="rId6"/>
          <a:stretch>
            <a:fillRect/>
          </a:stretch>
        </p:blipFill>
        <p:spPr>
          <a:xfrm>
            <a:off x="649224" y="5038344"/>
            <a:ext cx="256032" cy="256032"/>
          </a:xfrm>
          <a:prstGeom prst="rect">
            <a:avLst/>
          </a:prstGeom>
        </p:spPr>
      </p:pic>
      <p:sp>
        <p:nvSpPr>
          <p:cNvPr id="27" name="Text 19"/>
          <p:cNvSpPr txBox="1"/>
          <p:nvPr/>
        </p:nvSpPr>
        <p:spPr>
          <a:xfrm>
            <a:off x="1152144" y="4919472"/>
            <a:ext cx="4206240" cy="237744"/>
          </a:xfrm>
          <a:prstGeom prst="rect">
            <a:avLst/>
          </a:prstGeom>
          <a:noFill/>
          <a:ln/>
        </p:spPr>
        <p:txBody>
          <a:bodyPr wrap="square" lIns="0" tIns="0" rIns="0" bIns="0" rtlCol="0" anchor="t"/>
          <a:lstStyle/>
          <a:p>
            <a:pPr algn="l" indent="0" marL="0">
              <a:buNone/>
            </a:pPr>
            <a:r>
              <a:rPr lang="en-US" sz="1400" b="1" dirty="0">
                <a:solidFill>
                  <a:srgbClr val="2B2D42"/>
                </a:solidFill>
              </a:rPr>
              <a:t>A new maze every run</a:t>
            </a:r>
            <a:endParaRPr lang="en-US" sz="1400" dirty="0"/>
          </a:p>
        </p:txBody>
      </p:sp>
      <p:sp>
        <p:nvSpPr>
          <p:cNvPr id="28" name="Text 20"/>
          <p:cNvSpPr txBox="1"/>
          <p:nvPr/>
        </p:nvSpPr>
        <p:spPr>
          <a:xfrm>
            <a:off x="1152144" y="5175504"/>
            <a:ext cx="4343400" cy="237744"/>
          </a:xfrm>
          <a:prstGeom prst="rect">
            <a:avLst/>
          </a:prstGeom>
          <a:noFill/>
          <a:ln/>
        </p:spPr>
        <p:txBody>
          <a:bodyPr wrap="square" lIns="0" tIns="0" rIns="0" bIns="0" rtlCol="0" anchor="t"/>
          <a:lstStyle/>
          <a:p>
            <a:pPr algn="l" indent="0" marL="0">
              <a:buNone/>
            </a:pPr>
            <a:r>
              <a:rPr lang="en-US" sz="1150" dirty="0">
                <a:solidFill>
                  <a:srgbClr val="5B5F80"/>
                </a:solidFill>
              </a:rPr>
              <a:t>Seeded mazes with forks, dead ends, coins and rising slime.</a:t>
            </a:r>
            <a:endParaRPr lang="en-US" sz="1150" dirty="0"/>
          </a:p>
        </p:txBody>
      </p:sp>
      <p:sp>
        <p:nvSpPr>
          <p:cNvPr id="29" name="usp"/>
          <p:cNvSpPr txBox="1"/>
          <p:nvPr/>
        </p:nvSpPr>
        <p:spPr>
          <a:xfrm>
            <a:off x="548640" y="5559552"/>
            <a:ext cx="4754880" cy="658368"/>
          </a:xfrm>
          <a:prstGeom prst="roundRect">
            <a:avLst>
              <a:gd name="adj" fmla="val 19444"/>
            </a:avLst>
          </a:prstGeom>
          <a:solidFill>
            <a:srgbClr val="2B2D42"/>
          </a:solidFill>
          <a:ln/>
        </p:spPr>
        <p:txBody>
          <a:bodyPr wrap="square" lIns="177800" tIns="0" rIns="177800" bIns="0" rtlCol="0" anchor="ctr"/>
          <a:lstStyle/>
          <a:p>
            <a:pPr indent="0" marL="0">
              <a:buNone/>
            </a:pPr>
            <a:r>
              <a:rPr lang="en-US" sz="1350" b="1" dirty="0">
                <a:solidFill>
                  <a:srgbClr val="FFC93C"/>
                </a:solidFill>
              </a:rPr>
              <a:t>USP  </a:t>
            </a:r>
            <a:pPr indent="0" marL="0">
              <a:buNone/>
            </a:pPr>
            <a:r>
              <a:rPr lang="en-US" sz="1350" b="1" dirty="0">
                <a:solidFill>
                  <a:srgbClr val="FFFFFF"/>
                </a:solidFill>
              </a:rPr>
              <a:t>Answers are places, not buttons. Mistakes become lessons, not game-overs.</a:t>
            </a:r>
            <a:endParaRPr lang="en-US" sz="1350" dirty="0"/>
          </a:p>
        </p:txBody>
      </p:sp>
      <p:pic>
        <p:nvPicPr>
          <p:cNvPr id="30" name="doorgrid" descr="DOOR RUSH room">    </p:cNvPr>
          <p:cNvPicPr>
            <a:picLocks noChangeAspect="1"/>
          </p:cNvPicPr>
          <p:nvPr/>
        </p:nvPicPr>
        <p:blipFill>
          <a:blip r:embed="rId7"/>
          <a:stretch>
            <a:fillRect/>
          </a:stretch>
        </p:blipFill>
        <p:spPr>
          <a:xfrm>
            <a:off x="5431079" y="1843888"/>
            <a:ext cx="3133649" cy="1869148"/>
          </a:xfrm>
          <a:prstGeom prst="rect">
            <a:avLst/>
          </a:prstGeom>
        </p:spPr>
      </p:pic>
      <p:sp>
        <p:nvSpPr>
          <p:cNvPr id="31" name="Text 22"/>
          <p:cNvSpPr txBox="1"/>
          <p:nvPr/>
        </p:nvSpPr>
        <p:spPr>
          <a:xfrm>
            <a:off x="5571439" y="3682403"/>
            <a:ext cx="2944368" cy="237744"/>
          </a:xfrm>
          <a:prstGeom prst="rect">
            <a:avLst/>
          </a:prstGeom>
          <a:noFill/>
          <a:ln/>
        </p:spPr>
        <p:txBody>
          <a:bodyPr wrap="square" lIns="0" tIns="0" rIns="0" bIns="0" rtlCol="0" anchor="t"/>
          <a:lstStyle/>
          <a:p>
            <a:pPr algn="l" indent="0" marL="0">
              <a:buNone/>
            </a:pPr>
            <a:r>
              <a:rPr lang="en-US" sz="1150" b="1" spc="50" kern="0" dirty="0">
                <a:solidFill>
                  <a:srgbClr val="FF4FA0"/>
                </a:solidFill>
              </a:rPr>
              <a:t>DOOR RUSH</a:t>
            </a:r>
            <a:pPr algn="l" indent="0" marL="0">
              <a:buNone/>
            </a:pPr>
            <a:r>
              <a:rPr lang="en-US" sz="1150" b="1" spc="50" kern="0" dirty="0">
                <a:solidFill>
                  <a:srgbClr val="5B5F80"/>
                </a:solidFill>
              </a:rPr>
              <a:t>   multiple choice</a:t>
            </a:r>
            <a:endParaRPr lang="en-US" sz="1150" dirty="0"/>
          </a:p>
        </p:txBody>
      </p:sp>
      <p:pic>
        <p:nvPicPr>
          <p:cNvPr id="32" name="tiledrop" descr="TILE DROP room">    </p:cNvPr>
          <p:cNvPicPr>
            <a:picLocks noChangeAspect="1"/>
          </p:cNvPicPr>
          <p:nvPr/>
        </p:nvPicPr>
        <p:blipFill>
          <a:blip r:embed="rId8"/>
          <a:stretch>
            <a:fillRect/>
          </a:stretch>
        </p:blipFill>
        <p:spPr>
          <a:xfrm>
            <a:off x="8604047" y="1843888"/>
            <a:ext cx="3133649" cy="1869148"/>
          </a:xfrm>
          <a:prstGeom prst="rect">
            <a:avLst/>
          </a:prstGeom>
        </p:spPr>
      </p:pic>
      <p:sp>
        <p:nvSpPr>
          <p:cNvPr id="33" name="Text 23"/>
          <p:cNvSpPr txBox="1"/>
          <p:nvPr/>
        </p:nvSpPr>
        <p:spPr>
          <a:xfrm>
            <a:off x="8744407" y="3682403"/>
            <a:ext cx="2944368" cy="237744"/>
          </a:xfrm>
          <a:prstGeom prst="rect">
            <a:avLst/>
          </a:prstGeom>
          <a:noFill/>
          <a:ln/>
        </p:spPr>
        <p:txBody>
          <a:bodyPr wrap="square" lIns="0" tIns="0" rIns="0" bIns="0" rtlCol="0" anchor="t"/>
          <a:lstStyle/>
          <a:p>
            <a:pPr algn="l" indent="0" marL="0">
              <a:buNone/>
            </a:pPr>
            <a:r>
              <a:rPr lang="en-US" sz="1150" b="1" spc="50" kern="0" dirty="0">
                <a:solidFill>
                  <a:srgbClr val="FF4FA0"/>
                </a:solidFill>
              </a:rPr>
              <a:t>TILE DROP</a:t>
            </a:r>
            <a:pPr algn="l" indent="0" marL="0">
              <a:buNone/>
            </a:pPr>
            <a:r>
              <a:rPr lang="en-US" sz="1150" b="1" spc="50" kern="0" dirty="0">
                <a:solidFill>
                  <a:srgbClr val="5B5F80"/>
                </a:solidFill>
              </a:rPr>
              <a:t>   true / false</a:t>
            </a:r>
            <a:endParaRPr lang="en-US" sz="1150" dirty="0"/>
          </a:p>
        </p:txBody>
      </p:sp>
      <p:pic>
        <p:nvPicPr>
          <p:cNvPr id="34" name="steps" descr="STEP STONES room">    </p:cNvPr>
          <p:cNvPicPr>
            <a:picLocks noChangeAspect="1"/>
          </p:cNvPicPr>
          <p:nvPr/>
        </p:nvPicPr>
        <p:blipFill>
          <a:blip r:embed="rId9"/>
          <a:stretch>
            <a:fillRect/>
          </a:stretch>
        </p:blipFill>
        <p:spPr>
          <a:xfrm>
            <a:off x="5431079" y="4001872"/>
            <a:ext cx="3133649" cy="1869148"/>
          </a:xfrm>
          <a:prstGeom prst="rect">
            <a:avLst/>
          </a:prstGeom>
        </p:spPr>
      </p:pic>
      <p:sp>
        <p:nvSpPr>
          <p:cNvPr id="35" name="Text 24"/>
          <p:cNvSpPr txBox="1"/>
          <p:nvPr/>
        </p:nvSpPr>
        <p:spPr>
          <a:xfrm>
            <a:off x="5571439" y="5840387"/>
            <a:ext cx="2944368" cy="237744"/>
          </a:xfrm>
          <a:prstGeom prst="rect">
            <a:avLst/>
          </a:prstGeom>
          <a:noFill/>
          <a:ln/>
        </p:spPr>
        <p:txBody>
          <a:bodyPr wrap="square" lIns="0" tIns="0" rIns="0" bIns="0" rtlCol="0" anchor="t"/>
          <a:lstStyle/>
          <a:p>
            <a:pPr algn="l" indent="0" marL="0">
              <a:buNone/>
            </a:pPr>
            <a:r>
              <a:rPr lang="en-US" sz="1150" b="1" spc="50" kern="0" dirty="0">
                <a:solidFill>
                  <a:srgbClr val="FF4FA0"/>
                </a:solidFill>
              </a:rPr>
              <a:t>STEP STONES</a:t>
            </a:r>
            <a:pPr algn="l" indent="0" marL="0">
              <a:buNone/>
            </a:pPr>
            <a:r>
              <a:rPr lang="en-US" sz="1150" b="1" spc="50" kern="0" dirty="0">
                <a:solidFill>
                  <a:srgbClr val="5B5F80"/>
                </a:solidFill>
              </a:rPr>
              <a:t>   multi-step problems</a:t>
            </a:r>
            <a:endParaRPr lang="en-US" sz="1150" dirty="0"/>
          </a:p>
        </p:txBody>
      </p:sp>
      <p:pic>
        <p:nvPicPr>
          <p:cNvPr id="36" name="bridge" descr="BRIDGE BUILDER room">    </p:cNvPr>
          <p:cNvPicPr>
            <a:picLocks noChangeAspect="1"/>
          </p:cNvPicPr>
          <p:nvPr/>
        </p:nvPicPr>
        <p:blipFill>
          <a:blip r:embed="rId10"/>
          <a:stretch>
            <a:fillRect/>
          </a:stretch>
        </p:blipFill>
        <p:spPr>
          <a:xfrm>
            <a:off x="8604047" y="4001872"/>
            <a:ext cx="3133649" cy="1869148"/>
          </a:xfrm>
          <a:prstGeom prst="rect">
            <a:avLst/>
          </a:prstGeom>
        </p:spPr>
      </p:pic>
      <p:sp>
        <p:nvSpPr>
          <p:cNvPr id="37" name="Text 25"/>
          <p:cNvSpPr txBox="1"/>
          <p:nvPr/>
        </p:nvSpPr>
        <p:spPr>
          <a:xfrm>
            <a:off x="8744407" y="5840387"/>
            <a:ext cx="2944368" cy="237744"/>
          </a:xfrm>
          <a:prstGeom prst="rect">
            <a:avLst/>
          </a:prstGeom>
          <a:noFill/>
          <a:ln/>
        </p:spPr>
        <p:txBody>
          <a:bodyPr wrap="square" lIns="0" tIns="0" rIns="0" bIns="0" rtlCol="0" anchor="t"/>
          <a:lstStyle/>
          <a:p>
            <a:pPr algn="l" indent="0" marL="0">
              <a:buNone/>
            </a:pPr>
            <a:r>
              <a:rPr lang="en-US" sz="1150" b="1" spc="50" kern="0" dirty="0">
                <a:solidFill>
                  <a:srgbClr val="FF4FA0"/>
                </a:solidFill>
              </a:rPr>
              <a:t>BRIDGE BUILDER</a:t>
            </a:r>
            <a:pPr algn="l" indent="0" marL="0">
              <a:buNone/>
            </a:pPr>
            <a:r>
              <a:rPr lang="en-US" sz="1150" b="1" spc="50" kern="0" dirty="0">
                <a:solidFill>
                  <a:srgbClr val="5B5F80"/>
                </a:solidFill>
              </a:rPr>
              <a:t>   put in order</a:t>
            </a:r>
            <a:endParaRPr lang="en-US" sz="1150" dirty="0"/>
          </a:p>
        </p:txBody>
      </p:sp>
      <p:sp>
        <p:nvSpPr>
          <p:cNvPr id="38" name="prototype-label"/>
          <p:cNvSpPr txBox="1"/>
          <p:nvPr/>
        </p:nvSpPr>
        <p:spPr>
          <a:xfrm>
            <a:off x="9357055" y="1792224"/>
            <a:ext cx="2148840" cy="274320"/>
          </a:xfrm>
          <a:prstGeom prst="roundRect">
            <a:avLst>
              <a:gd name="adj" fmla="val 50000"/>
            </a:avLst>
          </a:prstGeom>
          <a:solidFill>
            <a:srgbClr val="2B2D42"/>
          </a:solidFill>
          <a:ln/>
          <a:effectLst>
            <a:outerShdw sx="100000" sy="100000" kx="0" ky="0" algn="bl" rotWithShape="0" blurRad="127000" dist="38100" dir="5400000">
              <a:srgbClr val="2B2D42">
                <a:alpha val="14000"/>
              </a:srgbClr>
            </a:outerShdw>
          </a:effectLst>
        </p:spPr>
        <p:txBody>
          <a:bodyPr wrap="square" lIns="0" tIns="0" rIns="0" bIns="0" rtlCol="0" anchor="ctr"/>
          <a:lstStyle/>
          <a:p>
            <a:pPr algn="ctr" indent="0" marL="0">
              <a:buNone/>
            </a:pPr>
            <a:r>
              <a:rPr lang="en-US" sz="950" b="1" spc="100" kern="0" dirty="0">
                <a:solidFill>
                  <a:srgbClr val="FFFFFF"/>
                </a:solidFill>
              </a:rPr>
              <a:t>EARLY CONCEPT PROTOTYPE</a:t>
            </a:r>
            <a:endParaRPr lang="en-US" sz="950" dirty="0"/>
          </a:p>
        </p:txBody>
      </p:sp>
      <p:sp>
        <p:nvSpPr>
          <p:cNvPr id="25" name="Slide Number Placeholder 0"/>
          <p:cNvSpPr>
            <a:spLocks noGrp="1"/>
          </p:cNvSpPr>
          <p:nvPr>
            <p:ph type="sldNum" sz="quarter" idx="4294967295"/>
          </p:nvPr>
        </p:nvSpPr>
        <p:spPr>
          <a:xfrm>
            <a:off x="11183112" y="641908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84048"/>
            <a:ext cx="3081528" cy="292608"/>
          </a:xfrm>
          <a:prstGeom prst="roundRect">
            <a:avLst>
              <a:gd name="adj" fmla="val 50000"/>
            </a:avLst>
          </a:prstGeom>
          <a:solidFill>
            <a:srgbClr val="FF4FA0"/>
          </a:solidFill>
          <a:ln/>
        </p:spPr>
        <p:txBody>
          <a:bodyPr wrap="square" lIns="0" tIns="0" rIns="0" bIns="0" rtlCol="0" anchor="ctr"/>
          <a:lstStyle/>
          <a:p>
            <a:pPr algn="ctr" indent="0" marL="0">
              <a:buNone/>
            </a:pPr>
            <a:r>
              <a:rPr lang="en-US" sz="1050" b="1" spc="150" kern="0" dirty="0">
                <a:solidFill>
                  <a:srgbClr val="FFFFFF"/>
                </a:solidFill>
              </a:rPr>
              <a:t>03  ·  TECHNICAL APPROACH</a:t>
            </a:r>
            <a:endParaRPr lang="en-US" sz="1050" dirty="0"/>
          </a:p>
        </p:txBody>
      </p:sp>
      <p:sp>
        <p:nvSpPr>
          <p:cNvPr id="3" name="Text 0"/>
          <p:cNvSpPr/>
          <p:nvPr>
            <p:ph idx="100" type="title" hasCustomPrompt="1"/>
          </p:nvPr>
        </p:nvSpPr>
        <p:spPr>
          <a:xfrm>
            <a:off x="548640" y="731520"/>
            <a:ext cx="11064240" cy="713232"/>
          </a:xfrm>
          <a:prstGeom prst="rect">
            <a:avLst/>
          </a:prstGeom>
          <a:noFill/>
          <a:ln/>
        </p:spPr>
        <p:txBody>
          <a:bodyPr wrap="square" lIns="0" tIns="0" rIns="0" bIns="0" rtlCol="0" anchor="ctr"/>
          <a:lstStyle/>
          <a:p>
            <a:pPr algn="l" indent="0" marL="0">
              <a:buNone/>
            </a:pPr>
            <a:r>
              <a:rPr lang="en-US" sz="3400" dirty="0">
                <a:solidFill>
                  <a:schemeClr val="tx1"/>
                </a:solidFill>
                <a:latin typeface="Titan One" pitchFamily="34" charset="0"/>
                <a:ea typeface="Titan One" pitchFamily="34" charset="-122"/>
                <a:cs typeface="Titan One" pitchFamily="34" charset="-120"/>
              </a:rPr>
              <a:t>One loop, from pick to escape</a:t>
            </a:r>
            <a:endParaRPr lang="en-US" sz="3400" dirty="0"/>
          </a:p>
        </p:txBody>
      </p:sp>
      <p:sp>
        <p:nvSpPr>
          <p:cNvPr id="4" name="Shape 2"/>
          <p:cNvSpPr/>
          <p:nvPr/>
        </p:nvSpPr>
        <p:spPr>
          <a:xfrm>
            <a:off x="548640" y="2011680"/>
            <a:ext cx="1371600" cy="786384"/>
          </a:xfrm>
          <a:prstGeom prst="roundRect">
            <a:avLst>
              <a:gd name="adj" fmla="val 13953"/>
            </a:avLst>
          </a:prstGeom>
          <a:solidFill>
            <a:srgbClr val="DDF2FF"/>
          </a:solidFill>
          <a:ln w="15875">
            <a:solidFill>
              <a:srgbClr val="4DB2F0"/>
            </a:solidFill>
            <a:prstDash val="solid"/>
          </a:ln>
        </p:spPr>
      </p:sp>
      <p:sp>
        <p:nvSpPr>
          <p:cNvPr id="5" name="Text 3"/>
          <p:cNvSpPr txBox="1"/>
          <p:nvPr/>
        </p:nvSpPr>
        <p:spPr>
          <a:xfrm>
            <a:off x="640080" y="2121408"/>
            <a:ext cx="1188720" cy="237744"/>
          </a:xfrm>
          <a:prstGeom prst="rect">
            <a:avLst/>
          </a:prstGeom>
          <a:noFill/>
          <a:ln/>
        </p:spPr>
        <p:txBody>
          <a:bodyPr wrap="square" lIns="0" tIns="0" rIns="0" bIns="0" rtlCol="0" anchor="t"/>
          <a:lstStyle/>
          <a:p>
            <a:pPr algn="ctr" indent="0" marL="0">
              <a:buNone/>
            </a:pPr>
            <a:r>
              <a:rPr lang="en-US" sz="1200" b="1" dirty="0">
                <a:solidFill>
                  <a:srgbClr val="2B2D42"/>
                </a:solidFill>
              </a:rPr>
              <a:t>SELECT</a:t>
            </a:r>
            <a:endParaRPr lang="en-US" sz="1200" dirty="0"/>
          </a:p>
        </p:txBody>
      </p:sp>
      <p:sp>
        <p:nvSpPr>
          <p:cNvPr id="6" name="Text 4"/>
          <p:cNvSpPr txBox="1"/>
          <p:nvPr/>
        </p:nvSpPr>
        <p:spPr>
          <a:xfrm>
            <a:off x="621792" y="2395728"/>
            <a:ext cx="1225296" cy="329184"/>
          </a:xfrm>
          <a:prstGeom prst="rect">
            <a:avLst/>
          </a:prstGeom>
          <a:noFill/>
          <a:ln/>
        </p:spPr>
        <p:txBody>
          <a:bodyPr wrap="square" lIns="0" tIns="0" rIns="0" bIns="0" rtlCol="0" anchor="t"/>
          <a:lstStyle/>
          <a:p>
            <a:pPr algn="ctr" indent="0" marL="0">
              <a:buNone/>
            </a:pPr>
            <a:r>
              <a:rPr lang="en-US" sz="1050" dirty="0">
                <a:solidFill>
                  <a:srgbClr val="5B5F80"/>
                </a:solidFill>
              </a:rPr>
              <a:t>domain + difficulty</a:t>
            </a:r>
            <a:endParaRPr lang="en-US" sz="1050" dirty="0"/>
          </a:p>
        </p:txBody>
      </p:sp>
      <p:sp>
        <p:nvSpPr>
          <p:cNvPr id="7" name="Text 5"/>
          <p:cNvSpPr txBox="1"/>
          <p:nvPr/>
        </p:nvSpPr>
        <p:spPr>
          <a:xfrm>
            <a:off x="457200" y="1892808"/>
            <a:ext cx="274320" cy="274320"/>
          </a:xfrm>
          <a:prstGeom prst="roundRect">
            <a:avLst>
              <a:gd name="adj" fmla="val 50000"/>
            </a:avLst>
          </a:prstGeom>
          <a:solidFill>
            <a:srgbClr val="2B2D42"/>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8" name="Shape 6"/>
          <p:cNvSpPr/>
          <p:nvPr/>
        </p:nvSpPr>
        <p:spPr>
          <a:xfrm>
            <a:off x="1947672" y="2404872"/>
            <a:ext cx="173736" cy="914"/>
          </a:xfrm>
          <a:prstGeom prst="line">
            <a:avLst/>
          </a:prstGeom>
          <a:noFill/>
          <a:ln w="22225">
            <a:solidFill>
              <a:srgbClr val="5B5F80"/>
            </a:solidFill>
            <a:prstDash val="solid"/>
            <a:tailEnd type="triangle"/>
          </a:ln>
        </p:spPr>
      </p:sp>
      <p:sp>
        <p:nvSpPr>
          <p:cNvPr id="9" name="Shape 7"/>
          <p:cNvSpPr/>
          <p:nvPr/>
        </p:nvSpPr>
        <p:spPr>
          <a:xfrm>
            <a:off x="2148840" y="2011680"/>
            <a:ext cx="1371600" cy="786384"/>
          </a:xfrm>
          <a:prstGeom prst="roundRect">
            <a:avLst>
              <a:gd name="adj" fmla="val 13953"/>
            </a:avLst>
          </a:prstGeom>
          <a:solidFill>
            <a:srgbClr val="DDF2FF"/>
          </a:solidFill>
          <a:ln w="15875">
            <a:solidFill>
              <a:srgbClr val="4DB2F0"/>
            </a:solidFill>
            <a:prstDash val="solid"/>
          </a:ln>
        </p:spPr>
      </p:sp>
      <p:sp>
        <p:nvSpPr>
          <p:cNvPr id="10" name="Text 8"/>
          <p:cNvSpPr txBox="1"/>
          <p:nvPr/>
        </p:nvSpPr>
        <p:spPr>
          <a:xfrm>
            <a:off x="2240280" y="2121408"/>
            <a:ext cx="1188720" cy="237744"/>
          </a:xfrm>
          <a:prstGeom prst="rect">
            <a:avLst/>
          </a:prstGeom>
          <a:noFill/>
          <a:ln/>
        </p:spPr>
        <p:txBody>
          <a:bodyPr wrap="square" lIns="0" tIns="0" rIns="0" bIns="0" rtlCol="0" anchor="t"/>
          <a:lstStyle/>
          <a:p>
            <a:pPr algn="ctr" indent="0" marL="0">
              <a:buNone/>
            </a:pPr>
            <a:r>
              <a:rPr lang="en-US" sz="1200" b="1" dirty="0">
                <a:solidFill>
                  <a:srgbClr val="2B2D42"/>
                </a:solidFill>
              </a:rPr>
              <a:t>GENERATE</a:t>
            </a:r>
            <a:endParaRPr lang="en-US" sz="1200" dirty="0"/>
          </a:p>
        </p:txBody>
      </p:sp>
      <p:sp>
        <p:nvSpPr>
          <p:cNvPr id="11" name="Text 9"/>
          <p:cNvSpPr txBox="1"/>
          <p:nvPr/>
        </p:nvSpPr>
        <p:spPr>
          <a:xfrm>
            <a:off x="2221992" y="2395728"/>
            <a:ext cx="1225296" cy="329184"/>
          </a:xfrm>
          <a:prstGeom prst="rect">
            <a:avLst/>
          </a:prstGeom>
          <a:noFill/>
          <a:ln/>
        </p:spPr>
        <p:txBody>
          <a:bodyPr wrap="square" lIns="0" tIns="0" rIns="0" bIns="0" rtlCol="0" anchor="t"/>
          <a:lstStyle/>
          <a:p>
            <a:pPr algn="ctr" indent="0" marL="0">
              <a:buNone/>
            </a:pPr>
            <a:r>
              <a:rPr lang="en-US" sz="1050" dirty="0">
                <a:solidFill>
                  <a:srgbClr val="5B5F80"/>
                </a:solidFill>
              </a:rPr>
              <a:t>seeded maze + rooms</a:t>
            </a:r>
            <a:endParaRPr lang="en-US" sz="1050" dirty="0"/>
          </a:p>
        </p:txBody>
      </p:sp>
      <p:sp>
        <p:nvSpPr>
          <p:cNvPr id="12" name="Text 10"/>
          <p:cNvSpPr txBox="1"/>
          <p:nvPr/>
        </p:nvSpPr>
        <p:spPr>
          <a:xfrm>
            <a:off x="2057400" y="1892808"/>
            <a:ext cx="274320" cy="274320"/>
          </a:xfrm>
          <a:prstGeom prst="roundRect">
            <a:avLst>
              <a:gd name="adj" fmla="val 50000"/>
            </a:avLst>
          </a:prstGeom>
          <a:solidFill>
            <a:srgbClr val="2B2D42"/>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13" name="Shape 11"/>
          <p:cNvSpPr/>
          <p:nvPr/>
        </p:nvSpPr>
        <p:spPr>
          <a:xfrm>
            <a:off x="3547872" y="2404872"/>
            <a:ext cx="173736" cy="914"/>
          </a:xfrm>
          <a:prstGeom prst="line">
            <a:avLst/>
          </a:prstGeom>
          <a:noFill/>
          <a:ln w="22225">
            <a:solidFill>
              <a:srgbClr val="5B5F80"/>
            </a:solidFill>
            <a:prstDash val="solid"/>
            <a:tailEnd type="triangle"/>
          </a:ln>
        </p:spPr>
      </p:sp>
      <p:sp>
        <p:nvSpPr>
          <p:cNvPr id="14" name="Shape 12"/>
          <p:cNvSpPr/>
          <p:nvPr/>
        </p:nvSpPr>
        <p:spPr>
          <a:xfrm>
            <a:off x="3749040" y="2011680"/>
            <a:ext cx="1371600" cy="786384"/>
          </a:xfrm>
          <a:prstGeom prst="roundRect">
            <a:avLst>
              <a:gd name="adj" fmla="val 13953"/>
            </a:avLst>
          </a:prstGeom>
          <a:solidFill>
            <a:srgbClr val="DDF2FF"/>
          </a:solidFill>
          <a:ln w="15875">
            <a:solidFill>
              <a:srgbClr val="4DB2F0"/>
            </a:solidFill>
            <a:prstDash val="solid"/>
          </a:ln>
        </p:spPr>
      </p:sp>
      <p:sp>
        <p:nvSpPr>
          <p:cNvPr id="15" name="Text 13"/>
          <p:cNvSpPr txBox="1"/>
          <p:nvPr/>
        </p:nvSpPr>
        <p:spPr>
          <a:xfrm>
            <a:off x="3840480" y="2121408"/>
            <a:ext cx="1188720" cy="237744"/>
          </a:xfrm>
          <a:prstGeom prst="rect">
            <a:avLst/>
          </a:prstGeom>
          <a:noFill/>
          <a:ln/>
        </p:spPr>
        <p:txBody>
          <a:bodyPr wrap="square" lIns="0" tIns="0" rIns="0" bIns="0" rtlCol="0" anchor="t"/>
          <a:lstStyle/>
          <a:p>
            <a:pPr algn="ctr" indent="0" marL="0">
              <a:buNone/>
            </a:pPr>
            <a:r>
              <a:rPr lang="en-US" sz="1200" b="1" dirty="0">
                <a:solidFill>
                  <a:srgbClr val="2B2D42"/>
                </a:solidFill>
              </a:rPr>
              <a:t>NAVIGATE</a:t>
            </a:r>
            <a:endParaRPr lang="en-US" sz="1200" dirty="0"/>
          </a:p>
        </p:txBody>
      </p:sp>
      <p:sp>
        <p:nvSpPr>
          <p:cNvPr id="16" name="Text 14"/>
          <p:cNvSpPr txBox="1"/>
          <p:nvPr/>
        </p:nvSpPr>
        <p:spPr>
          <a:xfrm>
            <a:off x="3822192" y="2395728"/>
            <a:ext cx="1225296" cy="329184"/>
          </a:xfrm>
          <a:prstGeom prst="rect">
            <a:avLst/>
          </a:prstGeom>
          <a:noFill/>
          <a:ln/>
        </p:spPr>
        <p:txBody>
          <a:bodyPr wrap="square" lIns="0" tIns="0" rIns="0" bIns="0" rtlCol="0" anchor="t"/>
          <a:lstStyle/>
          <a:p>
            <a:pPr algn="ctr" indent="0" marL="0">
              <a:buNone/>
            </a:pPr>
            <a:r>
              <a:rPr lang="en-US" sz="1050" dirty="0">
                <a:solidFill>
                  <a:srgbClr val="5B5F80"/>
                </a:solidFill>
              </a:rPr>
              <a:t>3D bean, minimap</a:t>
            </a:r>
            <a:endParaRPr lang="en-US" sz="1050" dirty="0"/>
          </a:p>
        </p:txBody>
      </p:sp>
      <p:sp>
        <p:nvSpPr>
          <p:cNvPr id="17" name="Text 15"/>
          <p:cNvSpPr txBox="1"/>
          <p:nvPr/>
        </p:nvSpPr>
        <p:spPr>
          <a:xfrm>
            <a:off x="3657600" y="1892808"/>
            <a:ext cx="274320" cy="274320"/>
          </a:xfrm>
          <a:prstGeom prst="roundRect">
            <a:avLst>
              <a:gd name="adj" fmla="val 50000"/>
            </a:avLst>
          </a:prstGeom>
          <a:solidFill>
            <a:srgbClr val="2B2D42"/>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18" name="Shape 16"/>
          <p:cNvSpPr/>
          <p:nvPr/>
        </p:nvSpPr>
        <p:spPr>
          <a:xfrm>
            <a:off x="5148072" y="2404872"/>
            <a:ext cx="173736" cy="914"/>
          </a:xfrm>
          <a:prstGeom prst="line">
            <a:avLst/>
          </a:prstGeom>
          <a:noFill/>
          <a:ln w="22225">
            <a:solidFill>
              <a:srgbClr val="5B5F80"/>
            </a:solidFill>
            <a:prstDash val="solid"/>
            <a:tailEnd type="triangle"/>
          </a:ln>
        </p:spPr>
      </p:sp>
      <p:sp>
        <p:nvSpPr>
          <p:cNvPr id="19" name="Shape 17"/>
          <p:cNvSpPr/>
          <p:nvPr/>
        </p:nvSpPr>
        <p:spPr>
          <a:xfrm>
            <a:off x="5349240" y="2011680"/>
            <a:ext cx="1371600" cy="786384"/>
          </a:xfrm>
          <a:prstGeom prst="roundRect">
            <a:avLst>
              <a:gd name="adj" fmla="val 13953"/>
            </a:avLst>
          </a:prstGeom>
          <a:solidFill>
            <a:srgbClr val="FFF3CF"/>
          </a:solidFill>
          <a:ln w="15875">
            <a:solidFill>
              <a:srgbClr val="E8B21E"/>
            </a:solidFill>
            <a:prstDash val="solid"/>
          </a:ln>
        </p:spPr>
      </p:sp>
      <p:sp>
        <p:nvSpPr>
          <p:cNvPr id="20" name="Text 18"/>
          <p:cNvSpPr txBox="1"/>
          <p:nvPr/>
        </p:nvSpPr>
        <p:spPr>
          <a:xfrm>
            <a:off x="5440680" y="2121408"/>
            <a:ext cx="1188720" cy="237744"/>
          </a:xfrm>
          <a:prstGeom prst="rect">
            <a:avLst/>
          </a:prstGeom>
          <a:noFill/>
          <a:ln/>
        </p:spPr>
        <p:txBody>
          <a:bodyPr wrap="square" lIns="0" tIns="0" rIns="0" bIns="0" rtlCol="0" anchor="t"/>
          <a:lstStyle/>
          <a:p>
            <a:pPr algn="ctr" indent="0" marL="0">
              <a:buNone/>
            </a:pPr>
            <a:r>
              <a:rPr lang="en-US" sz="1200" b="1" dirty="0">
                <a:solidFill>
                  <a:srgbClr val="2B2D42"/>
                </a:solidFill>
              </a:rPr>
              <a:t>CHALLENGE</a:t>
            </a:r>
            <a:endParaRPr lang="en-US" sz="1200" dirty="0"/>
          </a:p>
        </p:txBody>
      </p:sp>
      <p:sp>
        <p:nvSpPr>
          <p:cNvPr id="21" name="Text 19"/>
          <p:cNvSpPr txBox="1"/>
          <p:nvPr/>
        </p:nvSpPr>
        <p:spPr>
          <a:xfrm>
            <a:off x="5422392" y="2395728"/>
            <a:ext cx="1225296" cy="329184"/>
          </a:xfrm>
          <a:prstGeom prst="rect">
            <a:avLst/>
          </a:prstGeom>
          <a:noFill/>
          <a:ln/>
        </p:spPr>
        <p:txBody>
          <a:bodyPr wrap="square" lIns="0" tIns="0" rIns="0" bIns="0" rtlCol="0" anchor="t"/>
          <a:lstStyle/>
          <a:p>
            <a:pPr algn="ctr" indent="0" marL="0">
              <a:buNone/>
            </a:pPr>
            <a:r>
              <a:rPr lang="en-US" sz="1050" dirty="0">
                <a:solidFill>
                  <a:srgbClr val="5B5F80"/>
                </a:solidFill>
              </a:rPr>
              <a:t>room asks a question</a:t>
            </a:r>
            <a:endParaRPr lang="en-US" sz="1050" dirty="0"/>
          </a:p>
        </p:txBody>
      </p:sp>
      <p:sp>
        <p:nvSpPr>
          <p:cNvPr id="22" name="Text 20"/>
          <p:cNvSpPr txBox="1"/>
          <p:nvPr/>
        </p:nvSpPr>
        <p:spPr>
          <a:xfrm>
            <a:off x="5257800" y="1892808"/>
            <a:ext cx="274320" cy="274320"/>
          </a:xfrm>
          <a:prstGeom prst="roundRect">
            <a:avLst>
              <a:gd name="adj" fmla="val 50000"/>
            </a:avLst>
          </a:prstGeom>
          <a:solidFill>
            <a:srgbClr val="2B2D42"/>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23" name="Shape 21"/>
          <p:cNvSpPr/>
          <p:nvPr/>
        </p:nvSpPr>
        <p:spPr>
          <a:xfrm>
            <a:off x="6748272" y="2404872"/>
            <a:ext cx="173736" cy="914"/>
          </a:xfrm>
          <a:prstGeom prst="line">
            <a:avLst/>
          </a:prstGeom>
          <a:noFill/>
          <a:ln w="22225">
            <a:solidFill>
              <a:srgbClr val="5B5F80"/>
            </a:solidFill>
            <a:prstDash val="solid"/>
            <a:tailEnd type="triangle"/>
          </a:ln>
        </p:spPr>
      </p:sp>
      <p:sp>
        <p:nvSpPr>
          <p:cNvPr id="24" name="Shape 22"/>
          <p:cNvSpPr/>
          <p:nvPr/>
        </p:nvSpPr>
        <p:spPr>
          <a:xfrm>
            <a:off x="6949440" y="2011680"/>
            <a:ext cx="1371600" cy="786384"/>
          </a:xfrm>
          <a:prstGeom prst="roundRect">
            <a:avLst>
              <a:gd name="adj" fmla="val 13953"/>
            </a:avLst>
          </a:prstGeom>
          <a:solidFill>
            <a:srgbClr val="FFF3CF"/>
          </a:solidFill>
          <a:ln w="15875">
            <a:solidFill>
              <a:srgbClr val="E8B21E"/>
            </a:solidFill>
            <a:prstDash val="solid"/>
          </a:ln>
        </p:spPr>
      </p:sp>
      <p:sp>
        <p:nvSpPr>
          <p:cNvPr id="25" name="Text 23"/>
          <p:cNvSpPr txBox="1"/>
          <p:nvPr/>
        </p:nvSpPr>
        <p:spPr>
          <a:xfrm>
            <a:off x="7040880" y="2121408"/>
            <a:ext cx="1188720" cy="237744"/>
          </a:xfrm>
          <a:prstGeom prst="rect">
            <a:avLst/>
          </a:prstGeom>
          <a:noFill/>
          <a:ln/>
        </p:spPr>
        <p:txBody>
          <a:bodyPr wrap="square" lIns="0" tIns="0" rIns="0" bIns="0" rtlCol="0" anchor="t"/>
          <a:lstStyle/>
          <a:p>
            <a:pPr algn="ctr" indent="0" marL="0">
              <a:buNone/>
            </a:pPr>
            <a:r>
              <a:rPr lang="en-US" sz="1200" b="1" dirty="0">
                <a:solidFill>
                  <a:srgbClr val="2B2D42"/>
                </a:solidFill>
              </a:rPr>
              <a:t>EVALUATE</a:t>
            </a:r>
            <a:endParaRPr lang="en-US" sz="1200" dirty="0"/>
          </a:p>
        </p:txBody>
      </p:sp>
      <p:sp>
        <p:nvSpPr>
          <p:cNvPr id="26" name="Text 24"/>
          <p:cNvSpPr txBox="1"/>
          <p:nvPr/>
        </p:nvSpPr>
        <p:spPr>
          <a:xfrm>
            <a:off x="7022592" y="2395728"/>
            <a:ext cx="1225296" cy="329184"/>
          </a:xfrm>
          <a:prstGeom prst="rect">
            <a:avLst/>
          </a:prstGeom>
          <a:noFill/>
          <a:ln/>
        </p:spPr>
        <p:txBody>
          <a:bodyPr wrap="square" lIns="0" tIns="0" rIns="0" bIns="0" rtlCol="0" anchor="t"/>
          <a:lstStyle/>
          <a:p>
            <a:pPr algn="ctr" indent="0" marL="0">
              <a:buNone/>
            </a:pPr>
            <a:r>
              <a:rPr lang="en-US" sz="1050" dirty="0">
                <a:solidFill>
                  <a:srgbClr val="5B5F80"/>
                </a:solidFill>
              </a:rPr>
              <a:t>check, adapt tier</a:t>
            </a:r>
            <a:endParaRPr lang="en-US" sz="1050" dirty="0"/>
          </a:p>
        </p:txBody>
      </p:sp>
      <p:sp>
        <p:nvSpPr>
          <p:cNvPr id="27" name="Text 25"/>
          <p:cNvSpPr txBox="1"/>
          <p:nvPr/>
        </p:nvSpPr>
        <p:spPr>
          <a:xfrm>
            <a:off x="6858000" y="1892808"/>
            <a:ext cx="274320" cy="274320"/>
          </a:xfrm>
          <a:prstGeom prst="roundRect">
            <a:avLst>
              <a:gd name="adj" fmla="val 50000"/>
            </a:avLst>
          </a:prstGeom>
          <a:solidFill>
            <a:srgbClr val="2B2D42"/>
          </a:solidFill>
          <a:ln/>
        </p:spPr>
        <p:txBody>
          <a:bodyPr wrap="square" lIns="0" tIns="0" rIns="0" bIns="0" rtlCol="0" anchor="ctr"/>
          <a:lstStyle/>
          <a:p>
            <a:pPr algn="ctr" indent="0" marL="0">
              <a:buNone/>
            </a:pPr>
            <a:r>
              <a:rPr lang="en-US" sz="1050" b="1" dirty="0">
                <a:solidFill>
                  <a:srgbClr val="FFFFFF"/>
                </a:solidFill>
              </a:rPr>
              <a:t>5</a:t>
            </a:r>
            <a:endParaRPr lang="en-US" sz="1050" dirty="0"/>
          </a:p>
        </p:txBody>
      </p:sp>
      <p:sp>
        <p:nvSpPr>
          <p:cNvPr id="28" name="Shape 26"/>
          <p:cNvSpPr/>
          <p:nvPr/>
        </p:nvSpPr>
        <p:spPr>
          <a:xfrm>
            <a:off x="8732520" y="1572768"/>
            <a:ext cx="1325880" cy="713232"/>
          </a:xfrm>
          <a:prstGeom prst="roundRect">
            <a:avLst>
              <a:gd name="adj" fmla="val 15385"/>
            </a:avLst>
          </a:prstGeom>
          <a:solidFill>
            <a:srgbClr val="DDF6E5"/>
          </a:solidFill>
          <a:ln w="15875">
            <a:solidFill>
              <a:srgbClr val="3DBE6A"/>
            </a:solidFill>
            <a:prstDash val="solid"/>
          </a:ln>
        </p:spPr>
      </p:sp>
      <p:sp>
        <p:nvSpPr>
          <p:cNvPr id="29" name="Text 27"/>
          <p:cNvSpPr txBox="1"/>
          <p:nvPr/>
        </p:nvSpPr>
        <p:spPr>
          <a:xfrm>
            <a:off x="8805672" y="1664208"/>
            <a:ext cx="1179576" cy="237744"/>
          </a:xfrm>
          <a:prstGeom prst="rect">
            <a:avLst/>
          </a:prstGeom>
          <a:noFill/>
          <a:ln/>
        </p:spPr>
        <p:txBody>
          <a:bodyPr wrap="square" lIns="0" tIns="0" rIns="0" bIns="0" rtlCol="0" anchor="t"/>
          <a:lstStyle/>
          <a:p>
            <a:pPr algn="ctr" indent="0" marL="0">
              <a:buNone/>
            </a:pPr>
            <a:r>
              <a:rPr lang="en-US" sz="1200" b="1" dirty="0">
                <a:solidFill>
                  <a:srgbClr val="2B2D42"/>
                </a:solidFill>
              </a:rPr>
              <a:t>PROGRESS</a:t>
            </a:r>
            <a:endParaRPr lang="en-US" sz="1200" dirty="0"/>
          </a:p>
        </p:txBody>
      </p:sp>
      <p:sp>
        <p:nvSpPr>
          <p:cNvPr id="30" name="Text 28"/>
          <p:cNvSpPr txBox="1"/>
          <p:nvPr/>
        </p:nvSpPr>
        <p:spPr>
          <a:xfrm>
            <a:off x="8805672" y="1920240"/>
            <a:ext cx="1179576" cy="310896"/>
          </a:xfrm>
          <a:prstGeom prst="rect">
            <a:avLst/>
          </a:prstGeom>
          <a:noFill/>
          <a:ln/>
        </p:spPr>
        <p:txBody>
          <a:bodyPr wrap="square" lIns="0" tIns="0" rIns="0" bIns="0" rtlCol="0" anchor="t"/>
          <a:lstStyle/>
          <a:p>
            <a:pPr algn="ctr" indent="0" marL="0">
              <a:buNone/>
            </a:pPr>
            <a:r>
              <a:rPr lang="en-US" sz="1050" dirty="0">
                <a:solidFill>
                  <a:srgbClr val="5B5F80"/>
                </a:solidFill>
              </a:rPr>
              <a:t>door opens, slime drops</a:t>
            </a:r>
            <a:endParaRPr lang="en-US" sz="1050" dirty="0"/>
          </a:p>
        </p:txBody>
      </p:sp>
      <p:sp>
        <p:nvSpPr>
          <p:cNvPr id="31" name="Shape 29"/>
          <p:cNvSpPr/>
          <p:nvPr/>
        </p:nvSpPr>
        <p:spPr>
          <a:xfrm flipV="1">
            <a:off x="8348472" y="1929384"/>
            <a:ext cx="356616" cy="475488"/>
          </a:xfrm>
          <a:prstGeom prst="line">
            <a:avLst/>
          </a:prstGeom>
          <a:noFill/>
          <a:ln w="22225">
            <a:solidFill>
              <a:srgbClr val="3DBE6A"/>
            </a:solidFill>
            <a:prstDash val="solid"/>
            <a:tailEnd type="triangle"/>
          </a:ln>
        </p:spPr>
      </p:sp>
      <p:sp>
        <p:nvSpPr>
          <p:cNvPr id="32" name="Text 30"/>
          <p:cNvSpPr txBox="1"/>
          <p:nvPr/>
        </p:nvSpPr>
        <p:spPr>
          <a:xfrm>
            <a:off x="8412480" y="1892808"/>
            <a:ext cx="274320" cy="256032"/>
          </a:xfrm>
          <a:prstGeom prst="rect">
            <a:avLst/>
          </a:prstGeom>
          <a:noFill/>
          <a:ln/>
        </p:spPr>
        <p:txBody>
          <a:bodyPr wrap="square" lIns="0" tIns="0" rIns="0" bIns="0" rtlCol="0" anchor="t"/>
          <a:lstStyle/>
          <a:p>
            <a:pPr algn="l" indent="0" marL="0">
              <a:buNone/>
            </a:pPr>
            <a:r>
              <a:rPr lang="en-US" sz="1300" b="1" dirty="0">
                <a:solidFill>
                  <a:srgbClr val="3DBE6A"/>
                </a:solidFill>
              </a:rPr>
              <a:t>✓</a:t>
            </a:r>
            <a:endParaRPr lang="en-US" sz="1300" dirty="0"/>
          </a:p>
        </p:txBody>
      </p:sp>
      <p:sp>
        <p:nvSpPr>
          <p:cNvPr id="33" name="Shape 31"/>
          <p:cNvSpPr/>
          <p:nvPr/>
        </p:nvSpPr>
        <p:spPr>
          <a:xfrm>
            <a:off x="8732520" y="2688336"/>
            <a:ext cx="1325880" cy="713232"/>
          </a:xfrm>
          <a:prstGeom prst="roundRect">
            <a:avLst>
              <a:gd name="adj" fmla="val 15385"/>
            </a:avLst>
          </a:prstGeom>
          <a:solidFill>
            <a:srgbClr val="FFE3F0"/>
          </a:solidFill>
          <a:ln w="15875">
            <a:solidFill>
              <a:srgbClr val="FF4FA0"/>
            </a:solidFill>
            <a:prstDash val="solid"/>
          </a:ln>
        </p:spPr>
      </p:sp>
      <p:sp>
        <p:nvSpPr>
          <p:cNvPr id="34" name="Text 32"/>
          <p:cNvSpPr txBox="1"/>
          <p:nvPr/>
        </p:nvSpPr>
        <p:spPr>
          <a:xfrm>
            <a:off x="8805672" y="2779776"/>
            <a:ext cx="1179576" cy="237744"/>
          </a:xfrm>
          <a:prstGeom prst="rect">
            <a:avLst/>
          </a:prstGeom>
          <a:noFill/>
          <a:ln/>
        </p:spPr>
        <p:txBody>
          <a:bodyPr wrap="square" lIns="0" tIns="0" rIns="0" bIns="0" rtlCol="0" anchor="t"/>
          <a:lstStyle/>
          <a:p>
            <a:pPr algn="ctr" indent="0" marL="0">
              <a:buNone/>
            </a:pPr>
            <a:r>
              <a:rPr lang="en-US" sz="1200" b="1" dirty="0">
                <a:solidFill>
                  <a:srgbClr val="2B2D42"/>
                </a:solidFill>
              </a:rPr>
              <a:t>DETOUR</a:t>
            </a:r>
            <a:endParaRPr lang="en-US" sz="1200" dirty="0"/>
          </a:p>
        </p:txBody>
      </p:sp>
      <p:sp>
        <p:nvSpPr>
          <p:cNvPr id="35" name="Text 33"/>
          <p:cNvSpPr txBox="1"/>
          <p:nvPr/>
        </p:nvSpPr>
        <p:spPr>
          <a:xfrm>
            <a:off x="8805672" y="3035808"/>
            <a:ext cx="1179576" cy="310896"/>
          </a:xfrm>
          <a:prstGeom prst="rect">
            <a:avLst/>
          </a:prstGeom>
          <a:noFill/>
          <a:ln/>
        </p:spPr>
        <p:txBody>
          <a:bodyPr wrap="square" lIns="0" tIns="0" rIns="0" bIns="0" rtlCol="0" anchor="t"/>
          <a:lstStyle/>
          <a:p>
            <a:pPr algn="ctr" indent="0" marL="0">
              <a:buNone/>
            </a:pPr>
            <a:r>
              <a:rPr lang="en-US" sz="1050" dirty="0">
                <a:solidFill>
                  <a:srgbClr val="5B5F80"/>
                </a:solidFill>
              </a:rPr>
              <a:t>explain, example, retry</a:t>
            </a:r>
            <a:endParaRPr lang="en-US" sz="1050" dirty="0"/>
          </a:p>
        </p:txBody>
      </p:sp>
      <p:sp>
        <p:nvSpPr>
          <p:cNvPr id="36" name="Shape 34"/>
          <p:cNvSpPr/>
          <p:nvPr/>
        </p:nvSpPr>
        <p:spPr>
          <a:xfrm>
            <a:off x="8348472" y="2404872"/>
            <a:ext cx="356616" cy="640080"/>
          </a:xfrm>
          <a:prstGeom prst="line">
            <a:avLst/>
          </a:prstGeom>
          <a:noFill/>
          <a:ln w="22225">
            <a:solidFill>
              <a:srgbClr val="FF4FA0"/>
            </a:solidFill>
            <a:prstDash val="solid"/>
            <a:tailEnd type="triangle"/>
          </a:ln>
        </p:spPr>
      </p:sp>
      <p:sp>
        <p:nvSpPr>
          <p:cNvPr id="37" name="Text 35"/>
          <p:cNvSpPr txBox="1"/>
          <p:nvPr/>
        </p:nvSpPr>
        <p:spPr>
          <a:xfrm>
            <a:off x="8412480" y="2706624"/>
            <a:ext cx="274320" cy="256032"/>
          </a:xfrm>
          <a:prstGeom prst="rect">
            <a:avLst/>
          </a:prstGeom>
          <a:noFill/>
          <a:ln/>
        </p:spPr>
        <p:txBody>
          <a:bodyPr wrap="square" lIns="0" tIns="0" rIns="0" bIns="0" rtlCol="0" anchor="t"/>
          <a:lstStyle/>
          <a:p>
            <a:pPr algn="l" indent="0" marL="0">
              <a:buNone/>
            </a:pPr>
            <a:r>
              <a:rPr lang="en-US" sz="1300" b="1" dirty="0">
                <a:solidFill>
                  <a:srgbClr val="FF4FA0"/>
                </a:solidFill>
              </a:rPr>
              <a:t>✗</a:t>
            </a:r>
            <a:endParaRPr lang="en-US" sz="1300" dirty="0"/>
          </a:p>
        </p:txBody>
      </p:sp>
      <p:sp>
        <p:nvSpPr>
          <p:cNvPr id="38" name="Shape 36"/>
          <p:cNvSpPr/>
          <p:nvPr/>
        </p:nvSpPr>
        <p:spPr>
          <a:xfrm>
            <a:off x="10378440" y="1938528"/>
            <a:ext cx="1264615" cy="932688"/>
          </a:xfrm>
          <a:prstGeom prst="roundRect">
            <a:avLst>
              <a:gd name="adj" fmla="val 11765"/>
            </a:avLst>
          </a:prstGeom>
          <a:solidFill>
            <a:srgbClr val="2B2D42"/>
          </a:solidFill>
          <a:ln/>
        </p:spPr>
      </p:sp>
      <p:sp>
        <p:nvSpPr>
          <p:cNvPr id="39" name="Text 37"/>
          <p:cNvSpPr txBox="1"/>
          <p:nvPr/>
        </p:nvSpPr>
        <p:spPr>
          <a:xfrm>
            <a:off x="10451592" y="2066544"/>
            <a:ext cx="1118311" cy="237744"/>
          </a:xfrm>
          <a:prstGeom prst="rect">
            <a:avLst/>
          </a:prstGeom>
          <a:noFill/>
          <a:ln/>
        </p:spPr>
        <p:txBody>
          <a:bodyPr wrap="square" lIns="0" tIns="0" rIns="0" bIns="0" rtlCol="0" anchor="t"/>
          <a:lstStyle/>
          <a:p>
            <a:pPr algn="ctr" indent="0" marL="0">
              <a:buNone/>
            </a:pPr>
            <a:r>
              <a:rPr lang="en-US" sz="1200" b="1" dirty="0">
                <a:solidFill>
                  <a:srgbClr val="FFFFFF"/>
                </a:solidFill>
              </a:rPr>
              <a:t>WIN / LOSE</a:t>
            </a:r>
            <a:endParaRPr lang="en-US" sz="1200" dirty="0"/>
          </a:p>
        </p:txBody>
      </p:sp>
      <p:sp>
        <p:nvSpPr>
          <p:cNvPr id="40" name="Text 38"/>
          <p:cNvSpPr txBox="1"/>
          <p:nvPr/>
        </p:nvSpPr>
        <p:spPr>
          <a:xfrm>
            <a:off x="10451592" y="2340864"/>
            <a:ext cx="1118311" cy="402336"/>
          </a:xfrm>
          <a:prstGeom prst="rect">
            <a:avLst/>
          </a:prstGeom>
          <a:noFill/>
          <a:ln/>
        </p:spPr>
        <p:txBody>
          <a:bodyPr wrap="square" lIns="0" tIns="0" rIns="0" bIns="0" rtlCol="0" anchor="t"/>
          <a:lstStyle/>
          <a:p>
            <a:pPr algn="ctr" indent="0" marL="0">
              <a:buNone/>
            </a:pPr>
            <a:r>
              <a:rPr lang="en-US" sz="1050" dirty="0">
                <a:solidFill>
                  <a:srgbClr val="D6D8EA"/>
                </a:solidFill>
              </a:rPr>
              <a:t>portal = qualified</a:t>
            </a:r>
            <a:endParaRPr lang="en-US" sz="1050" dirty="0"/>
          </a:p>
          <a:p>
            <a:pPr algn="ctr" indent="0" marL="0">
              <a:buNone/>
            </a:pPr>
            <a:r>
              <a:rPr lang="en-US" sz="1050" dirty="0">
                <a:solidFill>
                  <a:srgbClr val="D6D8EA"/>
                </a:solidFill>
              </a:rPr>
              <a:t>slime 100% = out</a:t>
            </a:r>
            <a:endParaRPr lang="en-US" sz="1050" dirty="0"/>
          </a:p>
        </p:txBody>
      </p:sp>
      <p:sp>
        <p:nvSpPr>
          <p:cNvPr id="41" name="Shape 39"/>
          <p:cNvSpPr/>
          <p:nvPr/>
        </p:nvSpPr>
        <p:spPr>
          <a:xfrm>
            <a:off x="10085832" y="1929384"/>
            <a:ext cx="265176" cy="475488"/>
          </a:xfrm>
          <a:prstGeom prst="line">
            <a:avLst/>
          </a:prstGeom>
          <a:noFill/>
          <a:ln w="22225">
            <a:solidFill>
              <a:srgbClr val="5B5F80"/>
            </a:solidFill>
            <a:prstDash val="solid"/>
            <a:tailEnd type="triangle"/>
          </a:ln>
        </p:spPr>
      </p:sp>
      <p:sp>
        <p:nvSpPr>
          <p:cNvPr id="42" name="Shape 40"/>
          <p:cNvSpPr/>
          <p:nvPr/>
        </p:nvSpPr>
        <p:spPr>
          <a:xfrm flipV="1">
            <a:off x="10085832" y="2404872"/>
            <a:ext cx="265176" cy="640080"/>
          </a:xfrm>
          <a:prstGeom prst="line">
            <a:avLst/>
          </a:prstGeom>
          <a:noFill/>
          <a:ln w="22225">
            <a:solidFill>
              <a:srgbClr val="5B5F80"/>
            </a:solidFill>
            <a:prstDash val="solid"/>
            <a:tailEnd type="triangle"/>
          </a:ln>
        </p:spPr>
      </p:sp>
      <p:sp>
        <p:nvSpPr>
          <p:cNvPr id="43" name="Shape 41"/>
          <p:cNvSpPr/>
          <p:nvPr/>
        </p:nvSpPr>
        <p:spPr>
          <a:xfrm>
            <a:off x="11010748" y="2871216"/>
            <a:ext cx="914" cy="768096"/>
          </a:xfrm>
          <a:prstGeom prst="line">
            <a:avLst/>
          </a:prstGeom>
          <a:noFill/>
          <a:ln w="22225">
            <a:solidFill>
              <a:srgbClr val="5B5F80"/>
            </a:solidFill>
            <a:prstDash val="dash"/>
          </a:ln>
        </p:spPr>
      </p:sp>
      <p:sp>
        <p:nvSpPr>
          <p:cNvPr id="44" name="Shape 42"/>
          <p:cNvSpPr/>
          <p:nvPr/>
        </p:nvSpPr>
        <p:spPr>
          <a:xfrm flipH="1">
            <a:off x="4434840" y="3639312"/>
            <a:ext cx="6575908" cy="914"/>
          </a:xfrm>
          <a:prstGeom prst="line">
            <a:avLst/>
          </a:prstGeom>
          <a:noFill/>
          <a:ln w="22225">
            <a:solidFill>
              <a:srgbClr val="5B5F80"/>
            </a:solidFill>
            <a:prstDash val="dash"/>
          </a:ln>
        </p:spPr>
      </p:sp>
      <p:sp>
        <p:nvSpPr>
          <p:cNvPr id="45" name="Shape 43"/>
          <p:cNvSpPr/>
          <p:nvPr/>
        </p:nvSpPr>
        <p:spPr>
          <a:xfrm flipV="1">
            <a:off x="4434840" y="2825496"/>
            <a:ext cx="914" cy="813816"/>
          </a:xfrm>
          <a:prstGeom prst="line">
            <a:avLst/>
          </a:prstGeom>
          <a:noFill/>
          <a:ln w="22225">
            <a:solidFill>
              <a:srgbClr val="5B5F80"/>
            </a:solidFill>
            <a:prstDash val="dash"/>
            <a:tailEnd type="triangle"/>
          </a:ln>
        </p:spPr>
      </p:sp>
      <p:sp>
        <p:nvSpPr>
          <p:cNvPr id="46" name="Text 44"/>
          <p:cNvSpPr txBox="1"/>
          <p:nvPr/>
        </p:nvSpPr>
        <p:spPr>
          <a:xfrm>
            <a:off x="4617720" y="3364992"/>
            <a:ext cx="3840480" cy="219456"/>
          </a:xfrm>
          <a:prstGeom prst="rect">
            <a:avLst/>
          </a:prstGeom>
          <a:noFill/>
          <a:ln/>
        </p:spPr>
        <p:txBody>
          <a:bodyPr wrap="square" lIns="0" tIns="0" rIns="0" bIns="0" rtlCol="0" anchor="t"/>
          <a:lstStyle/>
          <a:p>
            <a:pPr algn="l" indent="0" marL="0">
              <a:buNone/>
            </a:pPr>
            <a:r>
              <a:rPr lang="en-US" sz="1050" i="1" dirty="0">
                <a:solidFill>
                  <a:srgbClr val="5B5F80"/>
                </a:solidFill>
              </a:rPr>
              <a:t>not finished? back into the maze, next room</a:t>
            </a:r>
            <a:endParaRPr lang="en-US" sz="1050" dirty="0"/>
          </a:p>
        </p:txBody>
      </p:sp>
      <p:sp>
        <p:nvSpPr>
          <p:cNvPr id="47" name="Shape 45"/>
          <p:cNvSpPr/>
          <p:nvPr/>
        </p:nvSpPr>
        <p:spPr>
          <a:xfrm>
            <a:off x="548640" y="3931920"/>
            <a:ext cx="4343400" cy="2331720"/>
          </a:xfrm>
          <a:prstGeom prst="roundRect">
            <a:avLst>
              <a:gd name="adj" fmla="val 5490"/>
            </a:avLst>
          </a:prstGeom>
          <a:solidFill>
            <a:srgbClr val="FFFFFF"/>
          </a:solidFill>
          <a:ln/>
          <a:effectLst>
            <a:outerShdw sx="100000" sy="100000" kx="0" ky="0" algn="bl" rotWithShape="0" blurRad="127000" dist="38100" dir="5400000">
              <a:srgbClr val="2B2D42">
                <a:alpha val="14000"/>
              </a:srgbClr>
            </a:outerShdw>
          </a:effectLst>
        </p:spPr>
      </p:sp>
      <p:sp>
        <p:nvSpPr>
          <p:cNvPr id="48" name="Text 46"/>
          <p:cNvSpPr txBox="1"/>
          <p:nvPr/>
        </p:nvSpPr>
        <p:spPr>
          <a:xfrm>
            <a:off x="731520" y="4059936"/>
            <a:ext cx="3657600" cy="201168"/>
          </a:xfrm>
          <a:prstGeom prst="rect">
            <a:avLst/>
          </a:prstGeom>
          <a:noFill/>
          <a:ln/>
        </p:spPr>
        <p:txBody>
          <a:bodyPr wrap="square" lIns="0" tIns="0" rIns="0" bIns="0" rtlCol="0" anchor="t"/>
          <a:lstStyle/>
          <a:p>
            <a:pPr algn="l" indent="0" marL="0">
              <a:buNone/>
            </a:pPr>
            <a:r>
              <a:rPr lang="en-US" sz="1000" b="1" spc="150" kern="0" dirty="0">
                <a:solidFill>
                  <a:srgbClr val="FF4FA0"/>
                </a:solidFill>
              </a:rPr>
              <a:t>PLANNED BROWSER CLIENT</a:t>
            </a:r>
            <a:endParaRPr lang="en-US" sz="1000" dirty="0"/>
          </a:p>
        </p:txBody>
      </p:sp>
      <p:sp>
        <p:nvSpPr>
          <p:cNvPr id="49" name="Text 47"/>
          <p:cNvSpPr txBox="1"/>
          <p:nvPr/>
        </p:nvSpPr>
        <p:spPr>
          <a:xfrm>
            <a:off x="731520" y="4370832"/>
            <a:ext cx="3977640" cy="384048"/>
          </a:xfrm>
          <a:prstGeom prst="roundRect">
            <a:avLst>
              <a:gd name="adj" fmla="val 19048"/>
            </a:avLst>
          </a:prstGeom>
          <a:solidFill>
            <a:srgbClr val="FFE3F0"/>
          </a:solidFill>
          <a:ln/>
        </p:spPr>
        <p:txBody>
          <a:bodyPr wrap="square" lIns="127000" tIns="0" rIns="127000" bIns="0" rtlCol="0" anchor="ctr"/>
          <a:lstStyle/>
          <a:p>
            <a:pPr indent="0" marL="0">
              <a:buNone/>
            </a:pPr>
            <a:r>
              <a:rPr lang="en-US" sz="1100" b="1" dirty="0">
                <a:solidFill>
                  <a:srgbClr val="2B2D42"/>
                </a:solidFill>
              </a:rPr>
              <a:t>UI   </a:t>
            </a:r>
            <a:pPr indent="0" marL="0">
              <a:buNone/>
            </a:pPr>
            <a:r>
              <a:rPr lang="en-US" sz="1100" dirty="0">
                <a:solidFill>
                  <a:srgbClr val="5B5F80"/>
                </a:solidFill>
              </a:rPr>
              <a:t>React DOM + zustand: HUD, menus, results</a:t>
            </a:r>
            <a:endParaRPr lang="en-US" sz="1100" dirty="0"/>
          </a:p>
        </p:txBody>
      </p:sp>
      <p:sp>
        <p:nvSpPr>
          <p:cNvPr id="50" name="Text 48"/>
          <p:cNvSpPr txBox="1"/>
          <p:nvPr/>
        </p:nvSpPr>
        <p:spPr>
          <a:xfrm>
            <a:off x="731520" y="4828032"/>
            <a:ext cx="3977640" cy="384048"/>
          </a:xfrm>
          <a:prstGeom prst="roundRect">
            <a:avLst>
              <a:gd name="adj" fmla="val 19048"/>
            </a:avLst>
          </a:prstGeom>
          <a:solidFill>
            <a:srgbClr val="EAE2FF"/>
          </a:solidFill>
          <a:ln/>
        </p:spPr>
        <p:txBody>
          <a:bodyPr wrap="square" lIns="127000" tIns="0" rIns="127000" bIns="0" rtlCol="0" anchor="ctr"/>
          <a:lstStyle/>
          <a:p>
            <a:pPr indent="0" marL="0">
              <a:buNone/>
            </a:pPr>
            <a:r>
              <a:rPr lang="en-US" sz="1100" b="1" dirty="0">
                <a:solidFill>
                  <a:srgbClr val="2B2D42"/>
                </a:solidFill>
              </a:rPr>
              <a:t>Render   </a:t>
            </a:r>
            <a:pPr indent="0" marL="0">
              <a:buNone/>
            </a:pPr>
            <a:r>
              <a:rPr lang="en-US" sz="1100" dirty="0">
                <a:solidFill>
                  <a:srgbClr val="5B5F80"/>
                </a:solidFill>
              </a:rPr>
              <a:t>three.js + React Three Fiber</a:t>
            </a:r>
            <a:endParaRPr lang="en-US" sz="1100" dirty="0"/>
          </a:p>
        </p:txBody>
      </p:sp>
      <p:sp>
        <p:nvSpPr>
          <p:cNvPr id="51" name="Text 49"/>
          <p:cNvSpPr txBox="1"/>
          <p:nvPr/>
        </p:nvSpPr>
        <p:spPr>
          <a:xfrm>
            <a:off x="731520" y="5285232"/>
            <a:ext cx="3977640" cy="384048"/>
          </a:xfrm>
          <a:prstGeom prst="roundRect">
            <a:avLst>
              <a:gd name="adj" fmla="val 19048"/>
            </a:avLst>
          </a:prstGeom>
          <a:solidFill>
            <a:srgbClr val="DDF2FF"/>
          </a:solidFill>
          <a:ln/>
        </p:spPr>
        <p:txBody>
          <a:bodyPr wrap="square" lIns="127000" tIns="0" rIns="127000" bIns="0" rtlCol="0" anchor="ctr"/>
          <a:lstStyle/>
          <a:p>
            <a:pPr indent="0" marL="0">
              <a:buNone/>
            </a:pPr>
            <a:r>
              <a:rPr lang="en-US" sz="1100" b="1" dirty="0">
                <a:solidFill>
                  <a:srgbClr val="2B2D42"/>
                </a:solidFill>
              </a:rPr>
              <a:t>Engine   </a:t>
            </a:r>
            <a:pPr indent="0" marL="0">
              <a:buNone/>
            </a:pPr>
            <a:r>
              <a:rPr lang="en-US" sz="1100" dirty="0">
                <a:solidFill>
                  <a:srgbClr val="5B5F80"/>
                </a:solidFill>
              </a:rPr>
              <a:t>TypeScript, fixed 120 Hz step, own collision</a:t>
            </a:r>
            <a:endParaRPr lang="en-US" sz="1100" dirty="0"/>
          </a:p>
        </p:txBody>
      </p:sp>
      <p:sp>
        <p:nvSpPr>
          <p:cNvPr id="52" name="Text 50"/>
          <p:cNvSpPr txBox="1"/>
          <p:nvPr/>
        </p:nvSpPr>
        <p:spPr>
          <a:xfrm>
            <a:off x="731520" y="5742432"/>
            <a:ext cx="3977640" cy="384048"/>
          </a:xfrm>
          <a:prstGeom prst="roundRect">
            <a:avLst>
              <a:gd name="adj" fmla="val 19048"/>
            </a:avLst>
          </a:prstGeom>
          <a:solidFill>
            <a:srgbClr val="DDF6E5"/>
          </a:solidFill>
          <a:ln/>
        </p:spPr>
        <p:txBody>
          <a:bodyPr wrap="square" lIns="127000" tIns="0" rIns="127000" bIns="0" rtlCol="0" anchor="ctr"/>
          <a:lstStyle/>
          <a:p>
            <a:pPr indent="0" marL="0">
              <a:buNone/>
            </a:pPr>
            <a:r>
              <a:rPr lang="en-US" sz="1100" b="1" dirty="0">
                <a:solidFill>
                  <a:srgbClr val="2B2D42"/>
                </a:solidFill>
              </a:rPr>
              <a:t>Content   </a:t>
            </a:r>
            <a:pPr indent="0" marL="0">
              <a:buNone/>
            </a:pPr>
            <a:r>
              <a:rPr lang="en-US" sz="1100" dirty="0">
                <a:solidFill>
                  <a:srgbClr val="5B5F80"/>
                </a:solidFill>
              </a:rPr>
              <a:t>JSON packs + validator, QuestionSource</a:t>
            </a:r>
            <a:endParaRPr lang="en-US" sz="1100" dirty="0"/>
          </a:p>
        </p:txBody>
      </p:sp>
      <p:sp>
        <p:nvSpPr>
          <p:cNvPr id="53" name="Shape 51"/>
          <p:cNvSpPr/>
          <p:nvPr/>
        </p:nvSpPr>
        <p:spPr>
          <a:xfrm>
            <a:off x="5257800" y="3931920"/>
            <a:ext cx="1965960" cy="1106424"/>
          </a:xfrm>
          <a:prstGeom prst="roundRect">
            <a:avLst>
              <a:gd name="adj" fmla="val 11570"/>
            </a:avLst>
          </a:prstGeom>
          <a:solidFill>
            <a:srgbClr val="FFFFFF"/>
          </a:solidFill>
          <a:ln/>
          <a:effectLst>
            <a:outerShdw sx="100000" sy="100000" kx="0" ky="0" algn="bl" rotWithShape="0" blurRad="127000" dist="38100" dir="5400000">
              <a:srgbClr val="2B2D42">
                <a:alpha val="14000"/>
              </a:srgbClr>
            </a:outerShdw>
          </a:effectLst>
        </p:spPr>
      </p:sp>
      <p:sp>
        <p:nvSpPr>
          <p:cNvPr id="54" name="Text 52"/>
          <p:cNvSpPr txBox="1"/>
          <p:nvPr/>
        </p:nvSpPr>
        <p:spPr>
          <a:xfrm>
            <a:off x="5404104" y="4050792"/>
            <a:ext cx="1691640" cy="201168"/>
          </a:xfrm>
          <a:prstGeom prst="rect">
            <a:avLst/>
          </a:prstGeom>
          <a:noFill/>
          <a:ln/>
        </p:spPr>
        <p:txBody>
          <a:bodyPr wrap="square" lIns="0" tIns="0" rIns="0" bIns="0" rtlCol="0" anchor="t"/>
          <a:lstStyle/>
          <a:p>
            <a:pPr algn="l" indent="0" marL="0">
              <a:buNone/>
            </a:pPr>
            <a:r>
              <a:rPr lang="en-US" sz="1000" b="1" spc="150" kern="0" dirty="0">
                <a:solidFill>
                  <a:srgbClr val="7A4DFF"/>
                </a:solidFill>
              </a:rPr>
              <a:t>AI QUESTIONS</a:t>
            </a:r>
            <a:endParaRPr lang="en-US" sz="1000" dirty="0"/>
          </a:p>
        </p:txBody>
      </p:sp>
      <p:sp>
        <p:nvSpPr>
          <p:cNvPr id="55" name="Text 53"/>
          <p:cNvSpPr txBox="1"/>
          <p:nvPr/>
        </p:nvSpPr>
        <p:spPr>
          <a:xfrm>
            <a:off x="5404104" y="4279392"/>
            <a:ext cx="1691640" cy="694944"/>
          </a:xfrm>
          <a:prstGeom prst="rect">
            <a:avLst/>
          </a:prstGeom>
          <a:noFill/>
          <a:ln/>
        </p:spPr>
        <p:txBody>
          <a:bodyPr wrap="square" lIns="0" tIns="0" rIns="0" bIns="0" rtlCol="0" anchor="t"/>
          <a:lstStyle/>
          <a:p>
            <a:pPr algn="l" indent="0" marL="0">
              <a:buNone/>
            </a:pPr>
            <a:r>
              <a:rPr lang="en-US" sz="1100" dirty="0">
                <a:solidFill>
                  <a:srgbClr val="2B2D42"/>
                </a:solidFill>
              </a:rPr>
              <a:t>Node proxy → DeepSeek API, key stays on server</a:t>
            </a:r>
            <a:endParaRPr lang="en-US" sz="1100" dirty="0"/>
          </a:p>
        </p:txBody>
      </p:sp>
      <p:sp>
        <p:nvSpPr>
          <p:cNvPr id="56" name="Shape 54"/>
          <p:cNvSpPr/>
          <p:nvPr/>
        </p:nvSpPr>
        <p:spPr>
          <a:xfrm>
            <a:off x="4919472" y="4480560"/>
            <a:ext cx="301752" cy="914"/>
          </a:xfrm>
          <a:prstGeom prst="line">
            <a:avLst/>
          </a:prstGeom>
          <a:noFill/>
          <a:ln w="22225">
            <a:solidFill>
              <a:srgbClr val="5B5F80"/>
            </a:solidFill>
            <a:prstDash val="solid"/>
            <a:headEnd type="triangle"/>
            <a:tailEnd type="triangle"/>
          </a:ln>
        </p:spPr>
      </p:sp>
      <p:sp>
        <p:nvSpPr>
          <p:cNvPr id="57" name="Shape 55"/>
          <p:cNvSpPr/>
          <p:nvPr/>
        </p:nvSpPr>
        <p:spPr>
          <a:xfrm>
            <a:off x="5257800" y="5157216"/>
            <a:ext cx="1965960" cy="1106424"/>
          </a:xfrm>
          <a:prstGeom prst="roundRect">
            <a:avLst>
              <a:gd name="adj" fmla="val 11570"/>
            </a:avLst>
          </a:prstGeom>
          <a:solidFill>
            <a:srgbClr val="FFFFFF"/>
          </a:solidFill>
          <a:ln/>
          <a:effectLst>
            <a:outerShdw sx="100000" sy="100000" kx="0" ky="0" algn="bl" rotWithShape="0" blurRad="127000" dist="38100" dir="5400000">
              <a:srgbClr val="2B2D42">
                <a:alpha val="14000"/>
              </a:srgbClr>
            </a:outerShdw>
          </a:effectLst>
        </p:spPr>
      </p:sp>
      <p:sp>
        <p:nvSpPr>
          <p:cNvPr id="58" name="Text 56"/>
          <p:cNvSpPr txBox="1"/>
          <p:nvPr/>
        </p:nvSpPr>
        <p:spPr>
          <a:xfrm>
            <a:off x="5404104" y="5276088"/>
            <a:ext cx="1691640" cy="201168"/>
          </a:xfrm>
          <a:prstGeom prst="rect">
            <a:avLst/>
          </a:prstGeom>
          <a:noFill/>
          <a:ln/>
        </p:spPr>
        <p:txBody>
          <a:bodyPr wrap="square" lIns="0" tIns="0" rIns="0" bIns="0" rtlCol="0" anchor="t"/>
          <a:lstStyle/>
          <a:p>
            <a:pPr algn="l" indent="0" marL="0">
              <a:buNone/>
            </a:pPr>
            <a:r>
              <a:rPr lang="en-US" sz="1000" b="1" spc="150" kern="0" dirty="0">
                <a:solidFill>
                  <a:srgbClr val="2E8FD6"/>
                </a:solidFill>
              </a:rPr>
              <a:t>MULTIPLAYER</a:t>
            </a:r>
            <a:endParaRPr lang="en-US" sz="1000" dirty="0"/>
          </a:p>
        </p:txBody>
      </p:sp>
      <p:sp>
        <p:nvSpPr>
          <p:cNvPr id="59" name="Text 57"/>
          <p:cNvSpPr txBox="1"/>
          <p:nvPr/>
        </p:nvSpPr>
        <p:spPr>
          <a:xfrm>
            <a:off x="5404104" y="5504688"/>
            <a:ext cx="1691640" cy="694944"/>
          </a:xfrm>
          <a:prstGeom prst="rect">
            <a:avLst/>
          </a:prstGeom>
          <a:noFill/>
          <a:ln/>
        </p:spPr>
        <p:txBody>
          <a:bodyPr wrap="square" lIns="0" tIns="0" rIns="0" bIns="0" rtlCol="0" anchor="t"/>
          <a:lstStyle/>
          <a:p>
            <a:pPr algn="l" indent="0" marL="0">
              <a:buNone/>
            </a:pPr>
            <a:r>
              <a:rPr lang="en-US" sz="1100" dirty="0">
                <a:solidFill>
                  <a:srgbClr val="2B2D42"/>
                </a:solidFill>
              </a:rPr>
              <a:t>WebSocket relay: shared seed + positions 10/s</a:t>
            </a:r>
            <a:endParaRPr lang="en-US" sz="1100" dirty="0"/>
          </a:p>
        </p:txBody>
      </p:sp>
      <p:sp>
        <p:nvSpPr>
          <p:cNvPr id="60" name="Shape 58"/>
          <p:cNvSpPr/>
          <p:nvPr/>
        </p:nvSpPr>
        <p:spPr>
          <a:xfrm>
            <a:off x="4919472" y="5705856"/>
            <a:ext cx="301752" cy="914"/>
          </a:xfrm>
          <a:prstGeom prst="line">
            <a:avLst/>
          </a:prstGeom>
          <a:noFill/>
          <a:ln w="22225">
            <a:solidFill>
              <a:srgbClr val="5B5F80"/>
            </a:solidFill>
            <a:prstDash val="solid"/>
            <a:headEnd type="triangle"/>
            <a:tailEnd type="triangle"/>
          </a:ln>
        </p:spPr>
      </p:sp>
      <p:sp>
        <p:nvSpPr>
          <p:cNvPr id="61" name="Shape 59"/>
          <p:cNvSpPr/>
          <p:nvPr/>
        </p:nvSpPr>
        <p:spPr>
          <a:xfrm>
            <a:off x="7589520" y="3959352"/>
            <a:ext cx="329184" cy="329184"/>
          </a:xfrm>
          <a:prstGeom prst="ellipse">
            <a:avLst/>
          </a:prstGeom>
          <a:solidFill>
            <a:srgbClr val="FFE8D8"/>
          </a:solidFill>
          <a:ln/>
        </p:spPr>
      </p:sp>
      <p:pic>
        <p:nvPicPr>
          <p:cNvPr id="62" name="Image 0" descr="preencoded.png">    </p:cNvPr>
          <p:cNvPicPr>
            <a:picLocks noChangeAspect="1"/>
          </p:cNvPicPr>
          <p:nvPr/>
        </p:nvPicPr>
        <p:blipFill>
          <a:blip r:embed="rId1"/>
          <a:stretch>
            <a:fillRect/>
          </a:stretch>
        </p:blipFill>
        <p:spPr>
          <a:xfrm>
            <a:off x="7661940" y="4031772"/>
            <a:ext cx="184343" cy="184343"/>
          </a:xfrm>
          <a:prstGeom prst="rect">
            <a:avLst/>
          </a:prstGeom>
        </p:spPr>
      </p:pic>
      <p:sp>
        <p:nvSpPr>
          <p:cNvPr id="63" name="Text 60"/>
          <p:cNvSpPr txBox="1"/>
          <p:nvPr/>
        </p:nvSpPr>
        <p:spPr>
          <a:xfrm>
            <a:off x="8028432" y="3931920"/>
            <a:ext cx="3614623" cy="457200"/>
          </a:xfrm>
          <a:prstGeom prst="rect">
            <a:avLst/>
          </a:prstGeom>
          <a:noFill/>
          <a:ln/>
        </p:spPr>
        <p:txBody>
          <a:bodyPr wrap="square" lIns="0" tIns="0" rIns="0" bIns="0" rtlCol="0" anchor="t"/>
          <a:lstStyle/>
          <a:p>
            <a:pPr algn="l" indent="0" marL="0">
              <a:buNone/>
            </a:pPr>
            <a:r>
              <a:rPr lang="en-US" sz="1150" b="1" dirty="0">
                <a:solidFill>
                  <a:srgbClr val="2B2D42"/>
                </a:solidFill>
              </a:rPr>
              <a:t>Maze: </a:t>
            </a:r>
            <a:pPr algn="l" indent="0" marL="0">
              <a:buNone/>
            </a:pPr>
            <a:r>
              <a:rPr lang="en-US" sz="1150" dirty="0">
                <a:solidFill>
                  <a:srgbClr val="5B5F80"/>
                </a:solidFill>
              </a:rPr>
              <a:t>DFS backtracker + braiding on a seeded PRNG: one seed, one identical maze.</a:t>
            </a:r>
            <a:endParaRPr lang="en-US" sz="1150" dirty="0"/>
          </a:p>
        </p:txBody>
      </p:sp>
      <p:sp>
        <p:nvSpPr>
          <p:cNvPr id="64" name="Shape 61"/>
          <p:cNvSpPr/>
          <p:nvPr/>
        </p:nvSpPr>
        <p:spPr>
          <a:xfrm>
            <a:off x="7589520" y="4434840"/>
            <a:ext cx="329184" cy="329184"/>
          </a:xfrm>
          <a:prstGeom prst="ellipse">
            <a:avLst/>
          </a:prstGeom>
          <a:solidFill>
            <a:srgbClr val="DDF6E5"/>
          </a:solidFill>
          <a:ln/>
        </p:spPr>
      </p:sp>
      <p:pic>
        <p:nvPicPr>
          <p:cNvPr id="65" name="Image 1" descr="preencoded.png">    </p:cNvPr>
          <p:cNvPicPr>
            <a:picLocks noChangeAspect="1"/>
          </p:cNvPicPr>
          <p:nvPr/>
        </p:nvPicPr>
        <p:blipFill>
          <a:blip r:embed="rId2"/>
          <a:stretch>
            <a:fillRect/>
          </a:stretch>
        </p:blipFill>
        <p:spPr>
          <a:xfrm>
            <a:off x="7661940" y="4507260"/>
            <a:ext cx="184343" cy="184343"/>
          </a:xfrm>
          <a:prstGeom prst="rect">
            <a:avLst/>
          </a:prstGeom>
        </p:spPr>
      </p:pic>
      <p:sp>
        <p:nvSpPr>
          <p:cNvPr id="66" name="Text 62"/>
          <p:cNvSpPr txBox="1"/>
          <p:nvPr/>
        </p:nvSpPr>
        <p:spPr>
          <a:xfrm>
            <a:off x="8028432" y="4407408"/>
            <a:ext cx="3614623" cy="457200"/>
          </a:xfrm>
          <a:prstGeom prst="rect">
            <a:avLst/>
          </a:prstGeom>
          <a:noFill/>
          <a:ln/>
        </p:spPr>
        <p:txBody>
          <a:bodyPr wrap="square" lIns="0" tIns="0" rIns="0" bIns="0" rtlCol="0" anchor="t"/>
          <a:lstStyle/>
          <a:p>
            <a:pPr algn="l" indent="0" marL="0">
              <a:buNone/>
            </a:pPr>
            <a:r>
              <a:rPr lang="en-US" sz="1150" b="1" dirty="0">
                <a:solidFill>
                  <a:srgbClr val="2B2D42"/>
                </a:solidFill>
              </a:rPr>
              <a:t>Adaptive picker: </a:t>
            </a:r>
            <a:pPr algn="l" indent="0" marL="0">
              <a:buNone/>
            </a:pPr>
            <a:r>
              <a:rPr lang="en-US" sz="1150" dirty="0">
                <a:solidFill>
                  <a:srgbClr val="5B5F80"/>
                </a:solidFill>
              </a:rPr>
              <a:t>tier staircase, scored by recency and weak concepts.</a:t>
            </a:r>
            <a:endParaRPr lang="en-US" sz="1150" dirty="0"/>
          </a:p>
        </p:txBody>
      </p:sp>
      <p:sp>
        <p:nvSpPr>
          <p:cNvPr id="67" name="Shape 63"/>
          <p:cNvSpPr/>
          <p:nvPr/>
        </p:nvSpPr>
        <p:spPr>
          <a:xfrm>
            <a:off x="7589520" y="4910328"/>
            <a:ext cx="329184" cy="329184"/>
          </a:xfrm>
          <a:prstGeom prst="ellipse">
            <a:avLst/>
          </a:prstGeom>
          <a:solidFill>
            <a:srgbClr val="EAE2FF"/>
          </a:solidFill>
          <a:ln/>
        </p:spPr>
      </p:sp>
      <p:pic>
        <p:nvPicPr>
          <p:cNvPr id="68" name="Image 2" descr="preencoded.png">    </p:cNvPr>
          <p:cNvPicPr>
            <a:picLocks noChangeAspect="1"/>
          </p:cNvPicPr>
          <p:nvPr/>
        </p:nvPicPr>
        <p:blipFill>
          <a:blip r:embed="rId3"/>
          <a:stretch>
            <a:fillRect/>
          </a:stretch>
        </p:blipFill>
        <p:spPr>
          <a:xfrm>
            <a:off x="7661940" y="4982748"/>
            <a:ext cx="184343" cy="184343"/>
          </a:xfrm>
          <a:prstGeom prst="rect">
            <a:avLst/>
          </a:prstGeom>
        </p:spPr>
      </p:pic>
      <p:sp>
        <p:nvSpPr>
          <p:cNvPr id="69" name="Text 64"/>
          <p:cNvSpPr txBox="1"/>
          <p:nvPr/>
        </p:nvSpPr>
        <p:spPr>
          <a:xfrm>
            <a:off x="8028432" y="4882896"/>
            <a:ext cx="3614623" cy="457200"/>
          </a:xfrm>
          <a:prstGeom prst="rect">
            <a:avLst/>
          </a:prstGeom>
          <a:noFill/>
          <a:ln/>
        </p:spPr>
        <p:txBody>
          <a:bodyPr wrap="square" lIns="0" tIns="0" rIns="0" bIns="0" rtlCol="0" anchor="t"/>
          <a:lstStyle/>
          <a:p>
            <a:pPr algn="l" indent="0" marL="0">
              <a:buNone/>
            </a:pPr>
            <a:r>
              <a:rPr lang="en-US" sz="1150" b="1" dirty="0">
                <a:solidFill>
                  <a:srgbClr val="2B2D42"/>
                </a:solidFill>
              </a:rPr>
              <a:t>AI pipeline: </a:t>
            </a:r>
            <a:pPr algn="l" indent="0" marL="0">
              <a:buNone/>
            </a:pPr>
            <a:r>
              <a:rPr lang="en-US" sz="1150" dirty="0">
                <a:solidFill>
                  <a:srgbClr val="5B5F80"/>
                </a:solidFill>
              </a:rPr>
              <a:t>JSON schema → validator → cached pack; built-in bank as fallback.</a:t>
            </a:r>
            <a:endParaRPr lang="en-US" sz="1150" dirty="0"/>
          </a:p>
        </p:txBody>
      </p:sp>
      <p:sp>
        <p:nvSpPr>
          <p:cNvPr id="70" name="Shape 65"/>
          <p:cNvSpPr/>
          <p:nvPr/>
        </p:nvSpPr>
        <p:spPr>
          <a:xfrm>
            <a:off x="7589520" y="5385816"/>
            <a:ext cx="329184" cy="329184"/>
          </a:xfrm>
          <a:prstGeom prst="ellipse">
            <a:avLst/>
          </a:prstGeom>
          <a:solidFill>
            <a:srgbClr val="DDF2FF"/>
          </a:solidFill>
          <a:ln/>
        </p:spPr>
      </p:sp>
      <p:pic>
        <p:nvPicPr>
          <p:cNvPr id="71" name="Image 3" descr="preencoded.png">    </p:cNvPr>
          <p:cNvPicPr>
            <a:picLocks noChangeAspect="1"/>
          </p:cNvPicPr>
          <p:nvPr/>
        </p:nvPicPr>
        <p:blipFill>
          <a:blip r:embed="rId4"/>
          <a:stretch>
            <a:fillRect/>
          </a:stretch>
        </p:blipFill>
        <p:spPr>
          <a:xfrm>
            <a:off x="7661940" y="5458236"/>
            <a:ext cx="184343" cy="184343"/>
          </a:xfrm>
          <a:prstGeom prst="rect">
            <a:avLst/>
          </a:prstGeom>
        </p:spPr>
      </p:pic>
      <p:sp>
        <p:nvSpPr>
          <p:cNvPr id="72" name="Text 66"/>
          <p:cNvSpPr txBox="1"/>
          <p:nvPr/>
        </p:nvSpPr>
        <p:spPr>
          <a:xfrm>
            <a:off x="8028432" y="5358384"/>
            <a:ext cx="3614623" cy="457200"/>
          </a:xfrm>
          <a:prstGeom prst="rect">
            <a:avLst/>
          </a:prstGeom>
          <a:noFill/>
          <a:ln/>
        </p:spPr>
        <p:txBody>
          <a:bodyPr wrap="square" lIns="0" tIns="0" rIns="0" bIns="0" rtlCol="0" anchor="t"/>
          <a:lstStyle/>
          <a:p>
            <a:pPr algn="l" indent="0" marL="0">
              <a:buNone/>
            </a:pPr>
            <a:r>
              <a:rPr lang="en-US" sz="1150" b="1" dirty="0">
                <a:solidFill>
                  <a:srgbClr val="2B2D42"/>
                </a:solidFill>
              </a:rPr>
              <a:t>Multiplayer: </a:t>
            </a:r>
            <a:pPr algn="l" indent="0" marL="0">
              <a:buNone/>
            </a:pPr>
            <a:r>
              <a:rPr lang="en-US" sz="1150" dirty="0">
                <a:solidFill>
                  <a:srgbClr val="5B5F80"/>
                </a:solidFill>
              </a:rPr>
              <a:t>share the seed, stream positions; each client runs its own course.</a:t>
            </a:r>
            <a:endParaRPr lang="en-US" sz="1150" dirty="0"/>
          </a:p>
        </p:txBody>
      </p:sp>
      <p:sp>
        <p:nvSpPr>
          <p:cNvPr id="73" name="Shape 67"/>
          <p:cNvSpPr/>
          <p:nvPr/>
        </p:nvSpPr>
        <p:spPr>
          <a:xfrm>
            <a:off x="7589520" y="5861304"/>
            <a:ext cx="329184" cy="329184"/>
          </a:xfrm>
          <a:prstGeom prst="ellipse">
            <a:avLst/>
          </a:prstGeom>
          <a:solidFill>
            <a:srgbClr val="FFE3F0"/>
          </a:solidFill>
          <a:ln/>
        </p:spPr>
      </p:sp>
      <p:pic>
        <p:nvPicPr>
          <p:cNvPr id="74" name="Image 4" descr="preencoded.png">    </p:cNvPr>
          <p:cNvPicPr>
            <a:picLocks noChangeAspect="1"/>
          </p:cNvPicPr>
          <p:nvPr/>
        </p:nvPicPr>
        <p:blipFill>
          <a:blip r:embed="rId5"/>
          <a:stretch>
            <a:fillRect/>
          </a:stretch>
        </p:blipFill>
        <p:spPr>
          <a:xfrm>
            <a:off x="7661940" y="5933724"/>
            <a:ext cx="184343" cy="184343"/>
          </a:xfrm>
          <a:prstGeom prst="rect">
            <a:avLst/>
          </a:prstGeom>
        </p:spPr>
      </p:pic>
      <p:sp>
        <p:nvSpPr>
          <p:cNvPr id="75" name="Text 68"/>
          <p:cNvSpPr txBox="1"/>
          <p:nvPr/>
        </p:nvSpPr>
        <p:spPr>
          <a:xfrm>
            <a:off x="8028432" y="5833872"/>
            <a:ext cx="3614623" cy="457200"/>
          </a:xfrm>
          <a:prstGeom prst="rect">
            <a:avLst/>
          </a:prstGeom>
          <a:noFill/>
          <a:ln/>
        </p:spPr>
        <p:txBody>
          <a:bodyPr wrap="square" lIns="0" tIns="0" rIns="0" bIns="0" rtlCol="0" anchor="t"/>
          <a:lstStyle/>
          <a:p>
            <a:pPr algn="l" indent="0" marL="0">
              <a:buNone/>
            </a:pPr>
            <a:r>
              <a:rPr lang="en-US" sz="1150" b="1" dirty="0">
                <a:solidFill>
                  <a:srgbClr val="2B2D42"/>
                </a:solidFill>
              </a:rPr>
              <a:t>Test plan: </a:t>
            </a:r>
            <a:pPr algn="l" indent="0" marL="0">
              <a:buNone/>
            </a:pPr>
            <a:r>
              <a:rPr lang="en-US" sz="1150" dirty="0">
                <a:solidFill>
                  <a:srgbClr val="5B5F80"/>
                </a:solidFill>
              </a:rPr>
              <a:t>a headless bot plays every generated course before release.</a:t>
            </a:r>
            <a:endParaRPr lang="en-US" sz="1150" dirty="0"/>
          </a:p>
        </p:txBody>
      </p:sp>
      <p:sp>
        <p:nvSpPr>
          <p:cNvPr id="25" name="Slide Number Placeholder 0"/>
          <p:cNvSpPr>
            <a:spLocks noGrp="1"/>
          </p:cNvSpPr>
          <p:nvPr>
            <p:ph type="sldNum" sz="quarter" idx="4294967295"/>
          </p:nvPr>
        </p:nvSpPr>
        <p:spPr>
          <a:xfrm>
            <a:off x="11183112" y="641908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84048"/>
            <a:ext cx="3621024" cy="292608"/>
          </a:xfrm>
          <a:prstGeom prst="roundRect">
            <a:avLst>
              <a:gd name="adj" fmla="val 50000"/>
            </a:avLst>
          </a:prstGeom>
          <a:solidFill>
            <a:srgbClr val="FF4FA0"/>
          </a:solidFill>
          <a:ln/>
        </p:spPr>
        <p:txBody>
          <a:bodyPr wrap="square" lIns="0" tIns="0" rIns="0" bIns="0" rtlCol="0" anchor="ctr"/>
          <a:lstStyle/>
          <a:p>
            <a:pPr algn="ctr" indent="0" marL="0">
              <a:buNone/>
            </a:pPr>
            <a:r>
              <a:rPr lang="en-US" sz="1050" b="1" spc="150" kern="0" dirty="0">
                <a:solidFill>
                  <a:srgbClr val="FFFFFF"/>
                </a:solidFill>
              </a:rPr>
              <a:t>04  ·  FEASIBILITY &amp; VIABILITY</a:t>
            </a:r>
            <a:endParaRPr lang="en-US" sz="1050" dirty="0"/>
          </a:p>
        </p:txBody>
      </p:sp>
      <p:sp>
        <p:nvSpPr>
          <p:cNvPr id="3" name="Text 0"/>
          <p:cNvSpPr/>
          <p:nvPr>
            <p:ph idx="100" type="title" hasCustomPrompt="1"/>
          </p:nvPr>
        </p:nvSpPr>
        <p:spPr>
          <a:xfrm>
            <a:off x="548640" y="731520"/>
            <a:ext cx="11064240" cy="713232"/>
          </a:xfrm>
          <a:prstGeom prst="rect">
            <a:avLst/>
          </a:prstGeom>
          <a:noFill/>
          <a:ln/>
        </p:spPr>
        <p:txBody>
          <a:bodyPr wrap="square" lIns="0" tIns="0" rIns="0" bIns="0" rtlCol="0" anchor="ctr"/>
          <a:lstStyle/>
          <a:p>
            <a:pPr algn="l" indent="0" marL="0">
              <a:buNone/>
            </a:pPr>
            <a:r>
              <a:rPr lang="en-US" sz="3400" dirty="0">
                <a:solidFill>
                  <a:schemeClr val="tx1"/>
                </a:solidFill>
                <a:latin typeface="Titan One" pitchFamily="34" charset="0"/>
                <a:ea typeface="Titan One" pitchFamily="34" charset="-122"/>
                <a:cs typeface="Titan One" pitchFamily="34" charset="-120"/>
              </a:rPr>
              <a:t>Feasible, low-cost, low-risk</a:t>
            </a:r>
            <a:endParaRPr lang="en-US" sz="3400" dirty="0"/>
          </a:p>
        </p:txBody>
      </p:sp>
      <p:sp>
        <p:nvSpPr>
          <p:cNvPr id="4" name="Shape 2"/>
          <p:cNvSpPr/>
          <p:nvPr/>
        </p:nvSpPr>
        <p:spPr>
          <a:xfrm>
            <a:off x="548640" y="1645920"/>
            <a:ext cx="2602154" cy="987552"/>
          </a:xfrm>
          <a:prstGeom prst="roundRect">
            <a:avLst>
              <a:gd name="adj" fmla="val 14815"/>
            </a:avLst>
          </a:prstGeom>
          <a:solidFill>
            <a:srgbClr val="FFFFFF"/>
          </a:solidFill>
          <a:ln/>
          <a:effectLst>
            <a:outerShdw sx="100000" sy="100000" kx="0" ky="0" algn="bl" rotWithShape="0" blurRad="127000" dist="38100" dir="5400000">
              <a:srgbClr val="2B2D42">
                <a:alpha val="14000"/>
              </a:srgbClr>
            </a:outerShdw>
          </a:effectLst>
        </p:spPr>
      </p:sp>
      <p:sp>
        <p:nvSpPr>
          <p:cNvPr id="5" name="Text 3"/>
          <p:cNvSpPr txBox="1"/>
          <p:nvPr/>
        </p:nvSpPr>
        <p:spPr>
          <a:xfrm>
            <a:off x="749808" y="1700784"/>
            <a:ext cx="2236394" cy="530352"/>
          </a:xfrm>
          <a:prstGeom prst="rect">
            <a:avLst/>
          </a:prstGeom>
          <a:noFill/>
          <a:ln/>
        </p:spPr>
        <p:txBody>
          <a:bodyPr wrap="square" lIns="0" tIns="0" rIns="0" bIns="0" rtlCol="0" anchor="ctr"/>
          <a:lstStyle/>
          <a:p>
            <a:pPr algn="l" indent="0" marL="0">
              <a:buNone/>
            </a:pPr>
            <a:r>
              <a:rPr lang="en-US" sz="3200" dirty="0">
                <a:solidFill>
                  <a:srgbClr val="FF4FA0"/>
                </a:solidFill>
                <a:latin typeface="Titan One" pitchFamily="34" charset="0"/>
                <a:ea typeface="Titan One" pitchFamily="34" charset="-122"/>
                <a:cs typeface="Titan One" pitchFamily="34" charset="-120"/>
              </a:rPr>
              <a:t>4</a:t>
            </a:r>
            <a:endParaRPr lang="en-US" sz="3200" dirty="0"/>
          </a:p>
        </p:txBody>
      </p:sp>
      <p:sp>
        <p:nvSpPr>
          <p:cNvPr id="6" name="Text 4"/>
          <p:cNvSpPr txBox="1"/>
          <p:nvPr/>
        </p:nvSpPr>
        <p:spPr>
          <a:xfrm>
            <a:off x="749808" y="2212848"/>
            <a:ext cx="2236394" cy="384048"/>
          </a:xfrm>
          <a:prstGeom prst="rect">
            <a:avLst/>
          </a:prstGeom>
          <a:noFill/>
          <a:ln/>
        </p:spPr>
        <p:txBody>
          <a:bodyPr wrap="square" lIns="0" tIns="0" rIns="0" bIns="0" rtlCol="0" anchor="t"/>
          <a:lstStyle/>
          <a:p>
            <a:pPr algn="l" indent="0" marL="0">
              <a:buNone/>
            </a:pPr>
            <a:r>
              <a:rPr lang="en-US" sz="1100" dirty="0">
                <a:solidFill>
                  <a:srgbClr val="5B5F80"/>
                </a:solidFill>
              </a:rPr>
              <a:t>domains at launch: math, science, history, programming</a:t>
            </a:r>
            <a:endParaRPr lang="en-US" sz="1100" dirty="0"/>
          </a:p>
        </p:txBody>
      </p:sp>
      <p:sp>
        <p:nvSpPr>
          <p:cNvPr id="7" name="Shape 5"/>
          <p:cNvSpPr/>
          <p:nvPr/>
        </p:nvSpPr>
        <p:spPr>
          <a:xfrm>
            <a:off x="3379394" y="1645920"/>
            <a:ext cx="2602154" cy="987552"/>
          </a:xfrm>
          <a:prstGeom prst="roundRect">
            <a:avLst>
              <a:gd name="adj" fmla="val 14815"/>
            </a:avLst>
          </a:prstGeom>
          <a:solidFill>
            <a:srgbClr val="FFFFFF"/>
          </a:solidFill>
          <a:ln/>
          <a:effectLst>
            <a:outerShdw sx="100000" sy="100000" kx="0" ky="0" algn="bl" rotWithShape="0" blurRad="127000" dist="38100" dir="5400000">
              <a:srgbClr val="2B2D42">
                <a:alpha val="14000"/>
              </a:srgbClr>
            </a:outerShdw>
          </a:effectLst>
        </p:spPr>
      </p:sp>
      <p:sp>
        <p:nvSpPr>
          <p:cNvPr id="8" name="Text 6"/>
          <p:cNvSpPr txBox="1"/>
          <p:nvPr/>
        </p:nvSpPr>
        <p:spPr>
          <a:xfrm>
            <a:off x="3580562" y="1700784"/>
            <a:ext cx="2236394" cy="530352"/>
          </a:xfrm>
          <a:prstGeom prst="rect">
            <a:avLst/>
          </a:prstGeom>
          <a:noFill/>
          <a:ln/>
        </p:spPr>
        <p:txBody>
          <a:bodyPr wrap="square" lIns="0" tIns="0" rIns="0" bIns="0" rtlCol="0" anchor="ctr"/>
          <a:lstStyle/>
          <a:p>
            <a:pPr algn="l" indent="0" marL="0">
              <a:buNone/>
            </a:pPr>
            <a:r>
              <a:rPr lang="en-US" sz="3200" dirty="0">
                <a:solidFill>
                  <a:srgbClr val="7A4DFF"/>
                </a:solidFill>
                <a:latin typeface="Titan One" pitchFamily="34" charset="0"/>
                <a:ea typeface="Titan One" pitchFamily="34" charset="-122"/>
                <a:cs typeface="Titan One" pitchFamily="34" charset="-120"/>
              </a:rPr>
              <a:t>5</a:t>
            </a:r>
            <a:endParaRPr lang="en-US" sz="3200" dirty="0"/>
          </a:p>
        </p:txBody>
      </p:sp>
      <p:sp>
        <p:nvSpPr>
          <p:cNvPr id="9" name="Text 7"/>
          <p:cNvSpPr txBox="1"/>
          <p:nvPr/>
        </p:nvSpPr>
        <p:spPr>
          <a:xfrm>
            <a:off x="3580562" y="2212848"/>
            <a:ext cx="2236394" cy="384048"/>
          </a:xfrm>
          <a:prstGeom prst="rect">
            <a:avLst/>
          </a:prstGeom>
          <a:noFill/>
          <a:ln/>
        </p:spPr>
        <p:txBody>
          <a:bodyPr wrap="square" lIns="0" tIns="0" rIns="0" bIns="0" rtlCol="0" anchor="t"/>
          <a:lstStyle/>
          <a:p>
            <a:pPr algn="l" indent="0" marL="0">
              <a:buNone/>
            </a:pPr>
            <a:r>
              <a:rPr lang="en-US" sz="1100" dirty="0">
                <a:solidFill>
                  <a:srgbClr val="5B5F80"/>
                </a:solidFill>
              </a:rPr>
              <a:t>room types, one for each question format</a:t>
            </a:r>
            <a:endParaRPr lang="en-US" sz="1100" dirty="0"/>
          </a:p>
        </p:txBody>
      </p:sp>
      <p:sp>
        <p:nvSpPr>
          <p:cNvPr id="10" name="Shape 8"/>
          <p:cNvSpPr/>
          <p:nvPr/>
        </p:nvSpPr>
        <p:spPr>
          <a:xfrm>
            <a:off x="6210148" y="1645920"/>
            <a:ext cx="2602154" cy="987552"/>
          </a:xfrm>
          <a:prstGeom prst="roundRect">
            <a:avLst>
              <a:gd name="adj" fmla="val 14815"/>
            </a:avLst>
          </a:prstGeom>
          <a:solidFill>
            <a:srgbClr val="FFFFFF"/>
          </a:solidFill>
          <a:ln/>
          <a:effectLst>
            <a:outerShdw sx="100000" sy="100000" kx="0" ky="0" algn="bl" rotWithShape="0" blurRad="127000" dist="38100" dir="5400000">
              <a:srgbClr val="2B2D42">
                <a:alpha val="14000"/>
              </a:srgbClr>
            </a:outerShdw>
          </a:effectLst>
        </p:spPr>
      </p:sp>
      <p:sp>
        <p:nvSpPr>
          <p:cNvPr id="11" name="Text 9"/>
          <p:cNvSpPr txBox="1"/>
          <p:nvPr/>
        </p:nvSpPr>
        <p:spPr>
          <a:xfrm>
            <a:off x="6411316" y="1700784"/>
            <a:ext cx="2236394" cy="530352"/>
          </a:xfrm>
          <a:prstGeom prst="rect">
            <a:avLst/>
          </a:prstGeom>
          <a:noFill/>
          <a:ln/>
        </p:spPr>
        <p:txBody>
          <a:bodyPr wrap="square" lIns="0" tIns="0" rIns="0" bIns="0" rtlCol="0" anchor="ctr"/>
          <a:lstStyle/>
          <a:p>
            <a:pPr algn="l" indent="0" marL="0">
              <a:buNone/>
            </a:pPr>
            <a:r>
              <a:rPr lang="en-US" sz="3200" dirty="0">
                <a:solidFill>
                  <a:srgbClr val="3DBE6A"/>
                </a:solidFill>
                <a:latin typeface="Titan One" pitchFamily="34" charset="0"/>
                <a:ea typeface="Titan One" pitchFamily="34" charset="-122"/>
                <a:cs typeface="Titan One" pitchFamily="34" charset="-120"/>
              </a:rPr>
              <a:t>3</a:t>
            </a:r>
            <a:endParaRPr lang="en-US" sz="3200" dirty="0"/>
          </a:p>
        </p:txBody>
      </p:sp>
      <p:sp>
        <p:nvSpPr>
          <p:cNvPr id="12" name="Text 10"/>
          <p:cNvSpPr txBox="1"/>
          <p:nvPr/>
        </p:nvSpPr>
        <p:spPr>
          <a:xfrm>
            <a:off x="6411316" y="2212848"/>
            <a:ext cx="2236394" cy="384048"/>
          </a:xfrm>
          <a:prstGeom prst="rect">
            <a:avLst/>
          </a:prstGeom>
          <a:noFill/>
          <a:ln/>
        </p:spPr>
        <p:txBody>
          <a:bodyPr wrap="square" lIns="0" tIns="0" rIns="0" bIns="0" rtlCol="0" anchor="t"/>
          <a:lstStyle/>
          <a:p>
            <a:pPr algn="l" indent="0" marL="0">
              <a:buNone/>
            </a:pPr>
            <a:r>
              <a:rPr lang="en-US" sz="1100" dirty="0">
                <a:solidFill>
                  <a:srgbClr val="5B5F80"/>
                </a:solidFill>
              </a:rPr>
              <a:t>difficulty levels, plus adaptive tiers</a:t>
            </a:r>
            <a:endParaRPr lang="en-US" sz="1100" dirty="0"/>
          </a:p>
        </p:txBody>
      </p:sp>
      <p:sp>
        <p:nvSpPr>
          <p:cNvPr id="13" name="Shape 11"/>
          <p:cNvSpPr/>
          <p:nvPr/>
        </p:nvSpPr>
        <p:spPr>
          <a:xfrm>
            <a:off x="9040901" y="1645920"/>
            <a:ext cx="2602154" cy="987552"/>
          </a:xfrm>
          <a:prstGeom prst="roundRect">
            <a:avLst>
              <a:gd name="adj" fmla="val 14815"/>
            </a:avLst>
          </a:prstGeom>
          <a:solidFill>
            <a:srgbClr val="FFFFFF"/>
          </a:solidFill>
          <a:ln/>
          <a:effectLst>
            <a:outerShdw sx="100000" sy="100000" kx="0" ky="0" algn="bl" rotWithShape="0" blurRad="127000" dist="38100" dir="5400000">
              <a:srgbClr val="2B2D42">
                <a:alpha val="14000"/>
              </a:srgbClr>
            </a:outerShdw>
          </a:effectLst>
        </p:spPr>
      </p:sp>
      <p:sp>
        <p:nvSpPr>
          <p:cNvPr id="14" name="Text 12"/>
          <p:cNvSpPr txBox="1"/>
          <p:nvPr/>
        </p:nvSpPr>
        <p:spPr>
          <a:xfrm>
            <a:off x="9242069" y="1700784"/>
            <a:ext cx="2236394" cy="530352"/>
          </a:xfrm>
          <a:prstGeom prst="rect">
            <a:avLst/>
          </a:prstGeom>
          <a:noFill/>
          <a:ln/>
        </p:spPr>
        <p:txBody>
          <a:bodyPr wrap="square" lIns="0" tIns="0" rIns="0" bIns="0" rtlCol="0" anchor="ctr"/>
          <a:lstStyle/>
          <a:p>
            <a:pPr algn="l" indent="0" marL="0">
              <a:buNone/>
            </a:pPr>
            <a:r>
              <a:rPr lang="en-US" sz="3200" dirty="0">
                <a:solidFill>
                  <a:srgbClr val="FF8A3D"/>
                </a:solidFill>
                <a:latin typeface="Titan One" pitchFamily="34" charset="0"/>
                <a:ea typeface="Titan One" pitchFamily="34" charset="-122"/>
                <a:cs typeface="Titan One" pitchFamily="34" charset="-120"/>
              </a:rPr>
              <a:t>0</a:t>
            </a:r>
            <a:endParaRPr lang="en-US" sz="3200" dirty="0"/>
          </a:p>
        </p:txBody>
      </p:sp>
      <p:sp>
        <p:nvSpPr>
          <p:cNvPr id="15" name="Text 13"/>
          <p:cNvSpPr txBox="1"/>
          <p:nvPr/>
        </p:nvSpPr>
        <p:spPr>
          <a:xfrm>
            <a:off x="9242069" y="2212848"/>
            <a:ext cx="2236394" cy="384048"/>
          </a:xfrm>
          <a:prstGeom prst="rect">
            <a:avLst/>
          </a:prstGeom>
          <a:noFill/>
          <a:ln/>
        </p:spPr>
        <p:txBody>
          <a:bodyPr wrap="square" lIns="0" tIns="0" rIns="0" bIns="0" rtlCol="0" anchor="t"/>
          <a:lstStyle/>
          <a:p>
            <a:pPr algn="l" indent="0" marL="0">
              <a:buNone/>
            </a:pPr>
            <a:r>
              <a:rPr lang="en-US" sz="1100" dirty="0">
                <a:solidFill>
                  <a:srgbClr val="5B5F80"/>
                </a:solidFill>
              </a:rPr>
              <a:t>installs: runs on laptops and phones from a link</a:t>
            </a:r>
            <a:endParaRPr lang="en-US" sz="1100" dirty="0"/>
          </a:p>
        </p:txBody>
      </p:sp>
      <p:sp>
        <p:nvSpPr>
          <p:cNvPr id="16" name="Shape 14"/>
          <p:cNvSpPr/>
          <p:nvPr/>
        </p:nvSpPr>
        <p:spPr>
          <a:xfrm>
            <a:off x="548640" y="2852928"/>
            <a:ext cx="3977640" cy="3410712"/>
          </a:xfrm>
          <a:prstGeom prst="roundRect">
            <a:avLst>
              <a:gd name="adj" fmla="val 4290"/>
            </a:avLst>
          </a:prstGeom>
          <a:solidFill>
            <a:srgbClr val="FFFFFF"/>
          </a:solidFill>
          <a:ln/>
          <a:effectLst>
            <a:outerShdw sx="100000" sy="100000" kx="0" ky="0" algn="bl" rotWithShape="0" blurRad="127000" dist="38100" dir="5400000">
              <a:srgbClr val="2B2D42">
                <a:alpha val="14000"/>
              </a:srgbClr>
            </a:outerShdw>
          </a:effectLst>
        </p:spPr>
      </p:sp>
      <p:sp>
        <p:nvSpPr>
          <p:cNvPr id="17" name="Text 15"/>
          <p:cNvSpPr txBox="1"/>
          <p:nvPr/>
        </p:nvSpPr>
        <p:spPr>
          <a:xfrm>
            <a:off x="749808" y="3035808"/>
            <a:ext cx="2743200" cy="201168"/>
          </a:xfrm>
          <a:prstGeom prst="rect">
            <a:avLst/>
          </a:prstGeom>
          <a:noFill/>
          <a:ln/>
        </p:spPr>
        <p:txBody>
          <a:bodyPr wrap="square" lIns="0" tIns="0" rIns="0" bIns="0" rtlCol="0" anchor="t"/>
          <a:lstStyle/>
          <a:p>
            <a:pPr algn="l" indent="0" marL="0">
              <a:buNone/>
            </a:pPr>
            <a:r>
              <a:rPr lang="en-US" sz="1000" b="1" spc="150" kern="0" dirty="0">
                <a:solidFill>
                  <a:srgbClr val="2E8FD6"/>
                </a:solidFill>
              </a:rPr>
              <a:t>ROADMAP</a:t>
            </a:r>
            <a:endParaRPr lang="en-US" sz="1000" dirty="0"/>
          </a:p>
        </p:txBody>
      </p:sp>
      <p:sp>
        <p:nvSpPr>
          <p:cNvPr id="18" name="Shape 16"/>
          <p:cNvSpPr/>
          <p:nvPr/>
        </p:nvSpPr>
        <p:spPr>
          <a:xfrm>
            <a:off x="932688" y="3511296"/>
            <a:ext cx="914" cy="2267712"/>
          </a:xfrm>
          <a:prstGeom prst="line">
            <a:avLst/>
          </a:prstGeom>
          <a:noFill/>
          <a:ln w="25400">
            <a:solidFill>
              <a:srgbClr val="C9D3E3"/>
            </a:solidFill>
            <a:prstDash val="solid"/>
          </a:ln>
        </p:spPr>
      </p:sp>
      <p:sp>
        <p:nvSpPr>
          <p:cNvPr id="19" name="Shape 17"/>
          <p:cNvSpPr/>
          <p:nvPr/>
        </p:nvSpPr>
        <p:spPr>
          <a:xfrm>
            <a:off x="822960" y="3401568"/>
            <a:ext cx="219456" cy="219456"/>
          </a:xfrm>
          <a:prstGeom prst="ellipse">
            <a:avLst/>
          </a:prstGeom>
          <a:solidFill>
            <a:srgbClr val="FF4FA0"/>
          </a:solidFill>
          <a:ln w="19050">
            <a:solidFill>
              <a:srgbClr val="FF4FA0"/>
            </a:solidFill>
            <a:prstDash val="solid"/>
          </a:ln>
        </p:spPr>
      </p:sp>
      <p:sp>
        <p:nvSpPr>
          <p:cNvPr id="20" name="Text 18"/>
          <p:cNvSpPr txBox="1"/>
          <p:nvPr/>
        </p:nvSpPr>
        <p:spPr>
          <a:xfrm>
            <a:off x="1207008" y="3328416"/>
            <a:ext cx="2057400" cy="237744"/>
          </a:xfrm>
          <a:prstGeom prst="rect">
            <a:avLst/>
          </a:prstGeom>
          <a:noFill/>
          <a:ln/>
        </p:spPr>
        <p:txBody>
          <a:bodyPr wrap="square" lIns="0" tIns="0" rIns="0" bIns="0" rtlCol="0" anchor="t"/>
          <a:lstStyle/>
          <a:p>
            <a:pPr algn="l" indent="0" marL="0">
              <a:buNone/>
            </a:pPr>
            <a:r>
              <a:rPr lang="en-US" sz="1250" b="1" dirty="0">
                <a:solidFill>
                  <a:srgbClr val="2B2D42"/>
                </a:solidFill>
              </a:rPr>
              <a:t>Concept &amp; design</a:t>
            </a:r>
            <a:endParaRPr lang="en-US" sz="1250" dirty="0"/>
          </a:p>
        </p:txBody>
      </p:sp>
      <p:sp>
        <p:nvSpPr>
          <p:cNvPr id="21" name="Text 19"/>
          <p:cNvSpPr txBox="1"/>
          <p:nvPr/>
        </p:nvSpPr>
        <p:spPr>
          <a:xfrm>
            <a:off x="1207008" y="3566160"/>
            <a:ext cx="3108960" cy="219456"/>
          </a:xfrm>
          <a:prstGeom prst="rect">
            <a:avLst/>
          </a:prstGeom>
          <a:noFill/>
          <a:ln/>
        </p:spPr>
        <p:txBody>
          <a:bodyPr wrap="square" lIns="0" tIns="0" rIns="0" bIns="0" rtlCol="0" anchor="t"/>
          <a:lstStyle/>
          <a:p>
            <a:pPr algn="l" indent="0" marL="0">
              <a:buNone/>
            </a:pPr>
            <a:r>
              <a:rPr lang="en-US" sz="1050" dirty="0">
                <a:solidFill>
                  <a:srgbClr val="5B5F80"/>
                </a:solidFill>
              </a:rPr>
              <a:t>brief, mechanics, architecture</a:t>
            </a:r>
            <a:endParaRPr lang="en-US" sz="1050" dirty="0"/>
          </a:p>
        </p:txBody>
      </p:sp>
      <p:sp>
        <p:nvSpPr>
          <p:cNvPr id="22" name="Text 20"/>
          <p:cNvSpPr txBox="1"/>
          <p:nvPr/>
        </p:nvSpPr>
        <p:spPr>
          <a:xfrm>
            <a:off x="3246120" y="3355848"/>
            <a:ext cx="1097280" cy="256032"/>
          </a:xfrm>
          <a:prstGeom prst="roundRect">
            <a:avLst>
              <a:gd name="adj" fmla="val 50000"/>
            </a:avLst>
          </a:prstGeom>
          <a:solidFill>
            <a:srgbClr val="FF4FA0"/>
          </a:solidFill>
          <a:ln/>
        </p:spPr>
        <p:txBody>
          <a:bodyPr wrap="square" lIns="0" tIns="0" rIns="0" bIns="0" rtlCol="0" anchor="ctr"/>
          <a:lstStyle/>
          <a:p>
            <a:pPr algn="ctr" indent="0" marL="0">
              <a:buNone/>
            </a:pPr>
            <a:r>
              <a:rPr lang="en-US" sz="900" b="1" spc="100" kern="0" dirty="0">
                <a:solidFill>
                  <a:srgbClr val="FFFFFF"/>
                </a:solidFill>
              </a:rPr>
              <a:t>WE ARE HERE</a:t>
            </a:r>
            <a:endParaRPr lang="en-US" sz="900" dirty="0"/>
          </a:p>
        </p:txBody>
      </p:sp>
      <p:sp>
        <p:nvSpPr>
          <p:cNvPr id="23" name="Shape 21"/>
          <p:cNvSpPr/>
          <p:nvPr/>
        </p:nvSpPr>
        <p:spPr>
          <a:xfrm>
            <a:off x="822960" y="3968496"/>
            <a:ext cx="219456" cy="219456"/>
          </a:xfrm>
          <a:prstGeom prst="ellipse">
            <a:avLst/>
          </a:prstGeom>
          <a:solidFill>
            <a:srgbClr val="FFFFFF"/>
          </a:solidFill>
          <a:ln w="19050">
            <a:solidFill>
              <a:srgbClr val="A3A7C2"/>
            </a:solidFill>
            <a:prstDash val="solid"/>
          </a:ln>
        </p:spPr>
      </p:sp>
      <p:sp>
        <p:nvSpPr>
          <p:cNvPr id="24" name="Text 22"/>
          <p:cNvSpPr txBox="1"/>
          <p:nvPr/>
        </p:nvSpPr>
        <p:spPr>
          <a:xfrm>
            <a:off x="1207008" y="3895344"/>
            <a:ext cx="2057400" cy="237744"/>
          </a:xfrm>
          <a:prstGeom prst="rect">
            <a:avLst/>
          </a:prstGeom>
          <a:noFill/>
          <a:ln/>
        </p:spPr>
        <p:txBody>
          <a:bodyPr wrap="square" lIns="0" tIns="0" rIns="0" bIns="0" rtlCol="0" anchor="t"/>
          <a:lstStyle/>
          <a:p>
            <a:pPr algn="l" indent="0" marL="0">
              <a:buNone/>
            </a:pPr>
            <a:r>
              <a:rPr lang="en-US" sz="1250" b="1" dirty="0">
                <a:solidFill>
                  <a:srgbClr val="2B2D42"/>
                </a:solidFill>
              </a:rPr>
              <a:t>Core prototype</a:t>
            </a:r>
            <a:endParaRPr lang="en-US" sz="1250" dirty="0"/>
          </a:p>
        </p:txBody>
      </p:sp>
      <p:sp>
        <p:nvSpPr>
          <p:cNvPr id="25" name="Text 23"/>
          <p:cNvSpPr txBox="1"/>
          <p:nvPr/>
        </p:nvSpPr>
        <p:spPr>
          <a:xfrm>
            <a:off x="1207008" y="4133088"/>
            <a:ext cx="3108960" cy="219456"/>
          </a:xfrm>
          <a:prstGeom prst="rect">
            <a:avLst/>
          </a:prstGeom>
          <a:noFill/>
          <a:ln/>
        </p:spPr>
        <p:txBody>
          <a:bodyPr wrap="square" lIns="0" tIns="0" rIns="0" bIns="0" rtlCol="0" anchor="t"/>
          <a:lstStyle/>
          <a:p>
            <a:pPr algn="l" indent="0" marL="0">
              <a:buNone/>
            </a:pPr>
            <a:r>
              <a:rPr lang="en-US" sz="1050" dirty="0">
                <a:solidFill>
                  <a:srgbClr val="5B5F80"/>
                </a:solidFill>
              </a:rPr>
              <a:t>maze, 5 rooms, detour, slime</a:t>
            </a:r>
            <a:endParaRPr lang="en-US" sz="1050" dirty="0"/>
          </a:p>
        </p:txBody>
      </p:sp>
      <p:sp>
        <p:nvSpPr>
          <p:cNvPr id="26" name="Shape 24"/>
          <p:cNvSpPr/>
          <p:nvPr/>
        </p:nvSpPr>
        <p:spPr>
          <a:xfrm>
            <a:off x="822960" y="4535424"/>
            <a:ext cx="219456" cy="219456"/>
          </a:xfrm>
          <a:prstGeom prst="ellipse">
            <a:avLst/>
          </a:prstGeom>
          <a:solidFill>
            <a:srgbClr val="FFFFFF"/>
          </a:solidFill>
          <a:ln w="19050">
            <a:solidFill>
              <a:srgbClr val="A3A7C2"/>
            </a:solidFill>
            <a:prstDash val="solid"/>
          </a:ln>
        </p:spPr>
      </p:sp>
      <p:sp>
        <p:nvSpPr>
          <p:cNvPr id="27" name="Text 25"/>
          <p:cNvSpPr txBox="1"/>
          <p:nvPr/>
        </p:nvSpPr>
        <p:spPr>
          <a:xfrm>
            <a:off x="1207008" y="4462272"/>
            <a:ext cx="2057400" cy="237744"/>
          </a:xfrm>
          <a:prstGeom prst="rect">
            <a:avLst/>
          </a:prstGeom>
          <a:noFill/>
          <a:ln/>
        </p:spPr>
        <p:txBody>
          <a:bodyPr wrap="square" lIns="0" tIns="0" rIns="0" bIns="0" rtlCol="0" anchor="t"/>
          <a:lstStyle/>
          <a:p>
            <a:pPr algn="l" indent="0" marL="0">
              <a:buNone/>
            </a:pPr>
            <a:r>
              <a:rPr lang="en-US" sz="1250" b="1" dirty="0">
                <a:solidFill>
                  <a:srgbClr val="2B2D42"/>
                </a:solidFill>
              </a:rPr>
              <a:t>Content &amp; adaptivity</a:t>
            </a:r>
            <a:endParaRPr lang="en-US" sz="1250" dirty="0"/>
          </a:p>
        </p:txBody>
      </p:sp>
      <p:sp>
        <p:nvSpPr>
          <p:cNvPr id="28" name="Text 26"/>
          <p:cNvSpPr txBox="1"/>
          <p:nvPr/>
        </p:nvSpPr>
        <p:spPr>
          <a:xfrm>
            <a:off x="1207008" y="4700016"/>
            <a:ext cx="3108960" cy="219456"/>
          </a:xfrm>
          <a:prstGeom prst="rect">
            <a:avLst/>
          </a:prstGeom>
          <a:noFill/>
          <a:ln/>
        </p:spPr>
        <p:txBody>
          <a:bodyPr wrap="square" lIns="0" tIns="0" rIns="0" bIns="0" rtlCol="0" anchor="t"/>
          <a:lstStyle/>
          <a:p>
            <a:pPr algn="l" indent="0" marL="0">
              <a:buNone/>
            </a:pPr>
            <a:r>
              <a:rPr lang="en-US" sz="1050" dirty="0">
                <a:solidFill>
                  <a:srgbClr val="5B5F80"/>
                </a:solidFill>
              </a:rPr>
              <a:t>question packs, tiers, weak spots</a:t>
            </a:r>
            <a:endParaRPr lang="en-US" sz="1050" dirty="0"/>
          </a:p>
        </p:txBody>
      </p:sp>
      <p:sp>
        <p:nvSpPr>
          <p:cNvPr id="29" name="Shape 27"/>
          <p:cNvSpPr/>
          <p:nvPr/>
        </p:nvSpPr>
        <p:spPr>
          <a:xfrm>
            <a:off x="822960" y="5102352"/>
            <a:ext cx="219456" cy="219456"/>
          </a:xfrm>
          <a:prstGeom prst="ellipse">
            <a:avLst/>
          </a:prstGeom>
          <a:solidFill>
            <a:srgbClr val="FFFFFF"/>
          </a:solidFill>
          <a:ln w="19050">
            <a:solidFill>
              <a:srgbClr val="A3A7C2"/>
            </a:solidFill>
            <a:prstDash val="solid"/>
          </a:ln>
        </p:spPr>
      </p:sp>
      <p:sp>
        <p:nvSpPr>
          <p:cNvPr id="30" name="Text 28"/>
          <p:cNvSpPr txBox="1"/>
          <p:nvPr/>
        </p:nvSpPr>
        <p:spPr>
          <a:xfrm>
            <a:off x="1207008" y="5029200"/>
            <a:ext cx="2057400" cy="237744"/>
          </a:xfrm>
          <a:prstGeom prst="rect">
            <a:avLst/>
          </a:prstGeom>
          <a:noFill/>
          <a:ln/>
        </p:spPr>
        <p:txBody>
          <a:bodyPr wrap="square" lIns="0" tIns="0" rIns="0" bIns="0" rtlCol="0" anchor="t"/>
          <a:lstStyle/>
          <a:p>
            <a:pPr algn="l" indent="0" marL="0">
              <a:buNone/>
            </a:pPr>
            <a:r>
              <a:rPr lang="en-US" sz="1250" b="1" dirty="0">
                <a:solidFill>
                  <a:srgbClr val="2B2D42"/>
                </a:solidFill>
              </a:rPr>
              <a:t>AI custom questions</a:t>
            </a:r>
            <a:endParaRPr lang="en-US" sz="1250" dirty="0"/>
          </a:p>
        </p:txBody>
      </p:sp>
      <p:sp>
        <p:nvSpPr>
          <p:cNvPr id="31" name="Text 29"/>
          <p:cNvSpPr txBox="1"/>
          <p:nvPr/>
        </p:nvSpPr>
        <p:spPr>
          <a:xfrm>
            <a:off x="1207008" y="5266944"/>
            <a:ext cx="3108960" cy="219456"/>
          </a:xfrm>
          <a:prstGeom prst="rect">
            <a:avLst/>
          </a:prstGeom>
          <a:noFill/>
          <a:ln/>
        </p:spPr>
        <p:txBody>
          <a:bodyPr wrap="square" lIns="0" tIns="0" rIns="0" bIns="0" rtlCol="0" anchor="t"/>
          <a:lstStyle/>
          <a:p>
            <a:pPr algn="l" indent="0" marL="0">
              <a:buNone/>
            </a:pPr>
            <a:r>
              <a:rPr lang="en-US" sz="1050" dirty="0">
                <a:solidFill>
                  <a:srgbClr val="5B5F80"/>
                </a:solidFill>
              </a:rPr>
              <a:t>DeepSeek packs from topics or notes</a:t>
            </a:r>
            <a:endParaRPr lang="en-US" sz="1050" dirty="0"/>
          </a:p>
        </p:txBody>
      </p:sp>
      <p:sp>
        <p:nvSpPr>
          <p:cNvPr id="32" name="Shape 30"/>
          <p:cNvSpPr/>
          <p:nvPr/>
        </p:nvSpPr>
        <p:spPr>
          <a:xfrm>
            <a:off x="822960" y="5669280"/>
            <a:ext cx="219456" cy="219456"/>
          </a:xfrm>
          <a:prstGeom prst="ellipse">
            <a:avLst/>
          </a:prstGeom>
          <a:solidFill>
            <a:srgbClr val="FFFFFF"/>
          </a:solidFill>
          <a:ln w="19050">
            <a:solidFill>
              <a:srgbClr val="A3A7C2"/>
            </a:solidFill>
            <a:prstDash val="solid"/>
          </a:ln>
        </p:spPr>
      </p:sp>
      <p:sp>
        <p:nvSpPr>
          <p:cNvPr id="33" name="Text 31"/>
          <p:cNvSpPr txBox="1"/>
          <p:nvPr/>
        </p:nvSpPr>
        <p:spPr>
          <a:xfrm>
            <a:off x="1207008" y="5596128"/>
            <a:ext cx="2057400" cy="237744"/>
          </a:xfrm>
          <a:prstGeom prst="rect">
            <a:avLst/>
          </a:prstGeom>
          <a:noFill/>
          <a:ln/>
        </p:spPr>
        <p:txBody>
          <a:bodyPr wrap="square" lIns="0" tIns="0" rIns="0" bIns="0" rtlCol="0" anchor="t"/>
          <a:lstStyle/>
          <a:p>
            <a:pPr algn="l" indent="0" marL="0">
              <a:buNone/>
            </a:pPr>
            <a:r>
              <a:rPr lang="en-US" sz="1250" b="1" dirty="0">
                <a:solidFill>
                  <a:srgbClr val="2B2D42"/>
                </a:solidFill>
              </a:rPr>
              <a:t>Multiplayer &amp; pilot</a:t>
            </a:r>
            <a:endParaRPr lang="en-US" sz="1250" dirty="0"/>
          </a:p>
        </p:txBody>
      </p:sp>
      <p:sp>
        <p:nvSpPr>
          <p:cNvPr id="34" name="Text 32"/>
          <p:cNvSpPr txBox="1"/>
          <p:nvPr/>
        </p:nvSpPr>
        <p:spPr>
          <a:xfrm>
            <a:off x="1207008" y="5833872"/>
            <a:ext cx="3108960" cy="219456"/>
          </a:xfrm>
          <a:prstGeom prst="rect">
            <a:avLst/>
          </a:prstGeom>
          <a:noFill/>
          <a:ln/>
        </p:spPr>
        <p:txBody>
          <a:bodyPr wrap="square" lIns="0" tIns="0" rIns="0" bIns="0" rtlCol="0" anchor="t"/>
          <a:lstStyle/>
          <a:p>
            <a:pPr algn="l" indent="0" marL="0">
              <a:buNone/>
            </a:pPr>
            <a:r>
              <a:rPr lang="en-US" sz="1050" dirty="0">
                <a:solidFill>
                  <a:srgbClr val="5B5F80"/>
                </a:solidFill>
              </a:rPr>
              <a:t>live races, a classroom trial</a:t>
            </a:r>
            <a:endParaRPr lang="en-US" sz="1050" dirty="0"/>
          </a:p>
        </p:txBody>
      </p:sp>
      <p:sp>
        <p:nvSpPr>
          <p:cNvPr id="35" name="Shape 33"/>
          <p:cNvSpPr/>
          <p:nvPr/>
        </p:nvSpPr>
        <p:spPr>
          <a:xfrm>
            <a:off x="4754880" y="2852928"/>
            <a:ext cx="3703320" cy="3410712"/>
          </a:xfrm>
          <a:prstGeom prst="roundRect">
            <a:avLst>
              <a:gd name="adj" fmla="val 4290"/>
            </a:avLst>
          </a:prstGeom>
          <a:solidFill>
            <a:srgbClr val="FFFFFF"/>
          </a:solidFill>
          <a:ln/>
          <a:effectLst>
            <a:outerShdw sx="100000" sy="100000" kx="0" ky="0" algn="bl" rotWithShape="0" blurRad="127000" dist="38100" dir="5400000">
              <a:srgbClr val="2B2D42">
                <a:alpha val="14000"/>
              </a:srgbClr>
            </a:outerShdw>
          </a:effectLst>
        </p:spPr>
      </p:sp>
      <p:sp>
        <p:nvSpPr>
          <p:cNvPr id="36" name="Text 34"/>
          <p:cNvSpPr txBox="1"/>
          <p:nvPr/>
        </p:nvSpPr>
        <p:spPr>
          <a:xfrm>
            <a:off x="4956048" y="3035808"/>
            <a:ext cx="2743200" cy="201168"/>
          </a:xfrm>
          <a:prstGeom prst="rect">
            <a:avLst/>
          </a:prstGeom>
          <a:noFill/>
          <a:ln/>
        </p:spPr>
        <p:txBody>
          <a:bodyPr wrap="square" lIns="0" tIns="0" rIns="0" bIns="0" rtlCol="0" anchor="t"/>
          <a:lstStyle/>
          <a:p>
            <a:pPr algn="l" indent="0" marL="0">
              <a:buNone/>
            </a:pPr>
            <a:r>
              <a:rPr lang="en-US" sz="1000" b="1" spc="150" kern="0" dirty="0">
                <a:solidFill>
                  <a:srgbClr val="FF4FA0"/>
                </a:solidFill>
              </a:rPr>
              <a:t>FEASIBILITY</a:t>
            </a:r>
            <a:endParaRPr lang="en-US" sz="1000" dirty="0"/>
          </a:p>
        </p:txBody>
      </p:sp>
      <p:sp>
        <p:nvSpPr>
          <p:cNvPr id="37" name="Shape 35"/>
          <p:cNvSpPr/>
          <p:nvPr/>
        </p:nvSpPr>
        <p:spPr>
          <a:xfrm>
            <a:off x="4956048" y="3328416"/>
            <a:ext cx="310896" cy="310896"/>
          </a:xfrm>
          <a:prstGeom prst="ellipse">
            <a:avLst/>
          </a:prstGeom>
          <a:solidFill>
            <a:srgbClr val="FFE3F0"/>
          </a:solidFill>
          <a:ln/>
        </p:spPr>
      </p:sp>
      <p:pic>
        <p:nvPicPr>
          <p:cNvPr id="38" name="Image 0" descr="preencoded.png">    </p:cNvPr>
          <p:cNvPicPr>
            <a:picLocks noChangeAspect="1"/>
          </p:cNvPicPr>
          <p:nvPr/>
        </p:nvPicPr>
        <p:blipFill>
          <a:blip r:embed="rId1"/>
          <a:stretch>
            <a:fillRect/>
          </a:stretch>
        </p:blipFill>
        <p:spPr>
          <a:xfrm>
            <a:off x="5024445" y="3396813"/>
            <a:ext cx="174102" cy="174102"/>
          </a:xfrm>
          <a:prstGeom prst="rect">
            <a:avLst/>
          </a:prstGeom>
        </p:spPr>
      </p:pic>
      <p:sp>
        <p:nvSpPr>
          <p:cNvPr id="39" name="Text 36"/>
          <p:cNvSpPr txBox="1"/>
          <p:nvPr/>
        </p:nvSpPr>
        <p:spPr>
          <a:xfrm>
            <a:off x="5376672" y="3328416"/>
            <a:ext cx="2926080" cy="310896"/>
          </a:xfrm>
          <a:prstGeom prst="rect">
            <a:avLst/>
          </a:prstGeom>
          <a:noFill/>
          <a:ln/>
        </p:spPr>
        <p:txBody>
          <a:bodyPr wrap="square" lIns="0" tIns="0" rIns="0" bIns="0" rtlCol="0" anchor="ctr"/>
          <a:lstStyle/>
          <a:p>
            <a:pPr algn="l" indent="0" marL="0">
              <a:buNone/>
            </a:pPr>
            <a:r>
              <a:rPr lang="en-US" sz="1250" dirty="0">
                <a:solidFill>
                  <a:srgbClr val="2B2D42"/>
                </a:solidFill>
              </a:rPr>
              <a:t>Proven web stack: three.js + React</a:t>
            </a:r>
            <a:endParaRPr lang="en-US" sz="1250" dirty="0"/>
          </a:p>
        </p:txBody>
      </p:sp>
      <p:sp>
        <p:nvSpPr>
          <p:cNvPr id="40" name="Shape 37"/>
          <p:cNvSpPr/>
          <p:nvPr/>
        </p:nvSpPr>
        <p:spPr>
          <a:xfrm>
            <a:off x="4956048" y="3749040"/>
            <a:ext cx="310896" cy="310896"/>
          </a:xfrm>
          <a:prstGeom prst="ellipse">
            <a:avLst/>
          </a:prstGeom>
          <a:solidFill>
            <a:srgbClr val="FFE3F0"/>
          </a:solidFill>
          <a:ln/>
        </p:spPr>
      </p:sp>
      <p:pic>
        <p:nvPicPr>
          <p:cNvPr id="41" name="Image 1" descr="preencoded.png">    </p:cNvPr>
          <p:cNvPicPr>
            <a:picLocks noChangeAspect="1"/>
          </p:cNvPicPr>
          <p:nvPr/>
        </p:nvPicPr>
        <p:blipFill>
          <a:blip r:embed="rId2"/>
          <a:stretch>
            <a:fillRect/>
          </a:stretch>
        </p:blipFill>
        <p:spPr>
          <a:xfrm>
            <a:off x="5024445" y="3817437"/>
            <a:ext cx="174102" cy="174102"/>
          </a:xfrm>
          <a:prstGeom prst="rect">
            <a:avLst/>
          </a:prstGeom>
        </p:spPr>
      </p:pic>
      <p:sp>
        <p:nvSpPr>
          <p:cNvPr id="42" name="Text 38"/>
          <p:cNvSpPr txBox="1"/>
          <p:nvPr/>
        </p:nvSpPr>
        <p:spPr>
          <a:xfrm>
            <a:off x="5376672" y="3749040"/>
            <a:ext cx="2926080" cy="310896"/>
          </a:xfrm>
          <a:prstGeom prst="rect">
            <a:avLst/>
          </a:prstGeom>
          <a:noFill/>
          <a:ln/>
        </p:spPr>
        <p:txBody>
          <a:bodyPr wrap="square" lIns="0" tIns="0" rIns="0" bIns="0" rtlCol="0" anchor="ctr"/>
          <a:lstStyle/>
          <a:p>
            <a:pPr algn="l" indent="0" marL="0">
              <a:buNone/>
            </a:pPr>
            <a:r>
              <a:rPr lang="en-US" sz="1250" dirty="0">
                <a:solidFill>
                  <a:srgbClr val="2B2D42"/>
                </a:solidFill>
              </a:rPr>
              <a:t>Pure browser, touch for phones</a:t>
            </a:r>
            <a:endParaRPr lang="en-US" sz="1250" dirty="0"/>
          </a:p>
        </p:txBody>
      </p:sp>
      <p:sp>
        <p:nvSpPr>
          <p:cNvPr id="43" name="Shape 39"/>
          <p:cNvSpPr/>
          <p:nvPr/>
        </p:nvSpPr>
        <p:spPr>
          <a:xfrm>
            <a:off x="4956048" y="4169664"/>
            <a:ext cx="310896" cy="310896"/>
          </a:xfrm>
          <a:prstGeom prst="ellipse">
            <a:avLst/>
          </a:prstGeom>
          <a:solidFill>
            <a:srgbClr val="FFE3F0"/>
          </a:solidFill>
          <a:ln/>
        </p:spPr>
      </p:sp>
      <p:pic>
        <p:nvPicPr>
          <p:cNvPr id="44" name="Image 2" descr="preencoded.png">    </p:cNvPr>
          <p:cNvPicPr>
            <a:picLocks noChangeAspect="1"/>
          </p:cNvPicPr>
          <p:nvPr/>
        </p:nvPicPr>
        <p:blipFill>
          <a:blip r:embed="rId3"/>
          <a:stretch>
            <a:fillRect/>
          </a:stretch>
        </p:blipFill>
        <p:spPr>
          <a:xfrm>
            <a:off x="5024445" y="4238061"/>
            <a:ext cx="174102" cy="174102"/>
          </a:xfrm>
          <a:prstGeom prst="rect">
            <a:avLst/>
          </a:prstGeom>
        </p:spPr>
      </p:pic>
      <p:sp>
        <p:nvSpPr>
          <p:cNvPr id="45" name="Text 40"/>
          <p:cNvSpPr txBox="1"/>
          <p:nvPr/>
        </p:nvSpPr>
        <p:spPr>
          <a:xfrm>
            <a:off x="5376672" y="4169664"/>
            <a:ext cx="2926080" cy="310896"/>
          </a:xfrm>
          <a:prstGeom prst="rect">
            <a:avLst/>
          </a:prstGeom>
          <a:noFill/>
          <a:ln/>
        </p:spPr>
        <p:txBody>
          <a:bodyPr wrap="square" lIns="0" tIns="0" rIns="0" bIns="0" rtlCol="0" anchor="ctr"/>
          <a:lstStyle/>
          <a:p>
            <a:pPr algn="l" indent="0" marL="0">
              <a:buNone/>
            </a:pPr>
            <a:r>
              <a:rPr lang="en-US" sz="1250" dirty="0">
                <a:solidFill>
                  <a:srgbClr val="2B2D42"/>
                </a:solidFill>
              </a:rPr>
              <a:t>Modular: AI + multiplayer plug in</a:t>
            </a:r>
            <a:endParaRPr lang="en-US" sz="1250" dirty="0"/>
          </a:p>
        </p:txBody>
      </p:sp>
      <p:sp>
        <p:nvSpPr>
          <p:cNvPr id="46" name="Text 41"/>
          <p:cNvSpPr txBox="1"/>
          <p:nvPr/>
        </p:nvSpPr>
        <p:spPr>
          <a:xfrm>
            <a:off x="4956048" y="4736592"/>
            <a:ext cx="2743200" cy="201168"/>
          </a:xfrm>
          <a:prstGeom prst="rect">
            <a:avLst/>
          </a:prstGeom>
          <a:noFill/>
          <a:ln/>
        </p:spPr>
        <p:txBody>
          <a:bodyPr wrap="square" lIns="0" tIns="0" rIns="0" bIns="0" rtlCol="0" anchor="t"/>
          <a:lstStyle/>
          <a:p>
            <a:pPr algn="l" indent="0" marL="0">
              <a:buNone/>
            </a:pPr>
            <a:r>
              <a:rPr lang="en-US" sz="1000" b="1" spc="150" kern="0" dirty="0">
                <a:solidFill>
                  <a:srgbClr val="3DBE6A"/>
                </a:solidFill>
              </a:rPr>
              <a:t>VIABILITY</a:t>
            </a:r>
            <a:endParaRPr lang="en-US" sz="1000" dirty="0"/>
          </a:p>
        </p:txBody>
      </p:sp>
      <p:sp>
        <p:nvSpPr>
          <p:cNvPr id="47" name="Shape 42"/>
          <p:cNvSpPr/>
          <p:nvPr/>
        </p:nvSpPr>
        <p:spPr>
          <a:xfrm>
            <a:off x="4956048" y="5029200"/>
            <a:ext cx="310896" cy="310896"/>
          </a:xfrm>
          <a:prstGeom prst="ellipse">
            <a:avLst/>
          </a:prstGeom>
          <a:solidFill>
            <a:srgbClr val="DDF6E5"/>
          </a:solidFill>
          <a:ln/>
        </p:spPr>
      </p:sp>
      <p:pic>
        <p:nvPicPr>
          <p:cNvPr id="48" name="Image 3" descr="preencoded.png">    </p:cNvPr>
          <p:cNvPicPr>
            <a:picLocks noChangeAspect="1"/>
          </p:cNvPicPr>
          <p:nvPr/>
        </p:nvPicPr>
        <p:blipFill>
          <a:blip r:embed="rId4"/>
          <a:stretch>
            <a:fillRect/>
          </a:stretch>
        </p:blipFill>
        <p:spPr>
          <a:xfrm>
            <a:off x="5024445" y="5097597"/>
            <a:ext cx="174102" cy="174102"/>
          </a:xfrm>
          <a:prstGeom prst="rect">
            <a:avLst/>
          </a:prstGeom>
        </p:spPr>
      </p:pic>
      <p:sp>
        <p:nvSpPr>
          <p:cNvPr id="49" name="Text 43"/>
          <p:cNvSpPr txBox="1"/>
          <p:nvPr/>
        </p:nvSpPr>
        <p:spPr>
          <a:xfrm>
            <a:off x="5376672" y="5029200"/>
            <a:ext cx="2926080" cy="310896"/>
          </a:xfrm>
          <a:prstGeom prst="rect">
            <a:avLst/>
          </a:prstGeom>
          <a:noFill/>
          <a:ln/>
        </p:spPr>
        <p:txBody>
          <a:bodyPr wrap="square" lIns="0" tIns="0" rIns="0" bIns="0" rtlCol="0" anchor="ctr"/>
          <a:lstStyle/>
          <a:p>
            <a:pPr algn="l" indent="0" marL="0">
              <a:buNone/>
            </a:pPr>
            <a:r>
              <a:rPr lang="en-US" sz="1250" dirty="0">
                <a:solidFill>
                  <a:srgbClr val="2B2D42"/>
                </a:solidFill>
              </a:rPr>
              <a:t>Core is static files: free hosting</a:t>
            </a:r>
            <a:endParaRPr lang="en-US" sz="1250" dirty="0"/>
          </a:p>
        </p:txBody>
      </p:sp>
      <p:sp>
        <p:nvSpPr>
          <p:cNvPr id="50" name="Shape 44"/>
          <p:cNvSpPr/>
          <p:nvPr/>
        </p:nvSpPr>
        <p:spPr>
          <a:xfrm>
            <a:off x="4956048" y="5449824"/>
            <a:ext cx="310896" cy="310896"/>
          </a:xfrm>
          <a:prstGeom prst="ellipse">
            <a:avLst/>
          </a:prstGeom>
          <a:solidFill>
            <a:srgbClr val="DDF6E5"/>
          </a:solidFill>
          <a:ln/>
        </p:spPr>
      </p:sp>
      <p:pic>
        <p:nvPicPr>
          <p:cNvPr id="51" name="Image 4" descr="preencoded.png">    </p:cNvPr>
          <p:cNvPicPr>
            <a:picLocks noChangeAspect="1"/>
          </p:cNvPicPr>
          <p:nvPr/>
        </p:nvPicPr>
        <p:blipFill>
          <a:blip r:embed="rId5"/>
          <a:stretch>
            <a:fillRect/>
          </a:stretch>
        </p:blipFill>
        <p:spPr>
          <a:xfrm>
            <a:off x="5024445" y="5518221"/>
            <a:ext cx="174102" cy="174102"/>
          </a:xfrm>
          <a:prstGeom prst="rect">
            <a:avLst/>
          </a:prstGeom>
        </p:spPr>
      </p:pic>
      <p:sp>
        <p:nvSpPr>
          <p:cNvPr id="52" name="Text 45"/>
          <p:cNvSpPr txBox="1"/>
          <p:nvPr/>
        </p:nvSpPr>
        <p:spPr>
          <a:xfrm>
            <a:off x="5376672" y="5449824"/>
            <a:ext cx="2926080" cy="310896"/>
          </a:xfrm>
          <a:prstGeom prst="rect">
            <a:avLst/>
          </a:prstGeom>
          <a:noFill/>
          <a:ln/>
        </p:spPr>
        <p:txBody>
          <a:bodyPr wrap="square" lIns="0" tIns="0" rIns="0" bIns="0" rtlCol="0" anchor="ctr"/>
          <a:lstStyle/>
          <a:p>
            <a:pPr algn="l" indent="0" marL="0">
              <a:buNone/>
            </a:pPr>
            <a:r>
              <a:rPr lang="en-US" sz="1250" dirty="0">
                <a:solidFill>
                  <a:srgbClr val="2B2D42"/>
                </a:solidFill>
              </a:rPr>
              <a:t>One AI call = one cached pack</a:t>
            </a:r>
            <a:endParaRPr lang="en-US" sz="1250" dirty="0"/>
          </a:p>
        </p:txBody>
      </p:sp>
      <p:sp>
        <p:nvSpPr>
          <p:cNvPr id="53" name="Shape 46"/>
          <p:cNvSpPr/>
          <p:nvPr/>
        </p:nvSpPr>
        <p:spPr>
          <a:xfrm>
            <a:off x="4956048" y="5870448"/>
            <a:ext cx="310896" cy="310896"/>
          </a:xfrm>
          <a:prstGeom prst="ellipse">
            <a:avLst/>
          </a:prstGeom>
          <a:solidFill>
            <a:srgbClr val="DDF6E5"/>
          </a:solidFill>
          <a:ln/>
        </p:spPr>
      </p:sp>
      <p:pic>
        <p:nvPicPr>
          <p:cNvPr id="54" name="Image 5" descr="preencoded.png">    </p:cNvPr>
          <p:cNvPicPr>
            <a:picLocks noChangeAspect="1"/>
          </p:cNvPicPr>
          <p:nvPr/>
        </p:nvPicPr>
        <p:blipFill>
          <a:blip r:embed="rId6"/>
          <a:stretch>
            <a:fillRect/>
          </a:stretch>
        </p:blipFill>
        <p:spPr>
          <a:xfrm>
            <a:off x="5024445" y="5938845"/>
            <a:ext cx="174102" cy="174102"/>
          </a:xfrm>
          <a:prstGeom prst="rect">
            <a:avLst/>
          </a:prstGeom>
        </p:spPr>
      </p:pic>
      <p:sp>
        <p:nvSpPr>
          <p:cNvPr id="55" name="Text 47"/>
          <p:cNvSpPr txBox="1"/>
          <p:nvPr/>
        </p:nvSpPr>
        <p:spPr>
          <a:xfrm>
            <a:off x="5376672" y="5870448"/>
            <a:ext cx="2926080" cy="310896"/>
          </a:xfrm>
          <a:prstGeom prst="rect">
            <a:avLst/>
          </a:prstGeom>
          <a:noFill/>
          <a:ln/>
        </p:spPr>
        <p:txBody>
          <a:bodyPr wrap="square" lIns="0" tIns="0" rIns="0" bIns="0" rtlCol="0" anchor="ctr"/>
          <a:lstStyle/>
          <a:p>
            <a:pPr algn="l" indent="0" marL="0">
              <a:buNone/>
            </a:pPr>
            <a:r>
              <a:rPr lang="en-US" sz="1250" dirty="0">
                <a:solidFill>
                  <a:srgbClr val="2B2D42"/>
                </a:solidFill>
              </a:rPr>
              <a:t>Relay forwards positions only</a:t>
            </a:r>
            <a:endParaRPr lang="en-US" sz="1250" dirty="0"/>
          </a:p>
        </p:txBody>
      </p:sp>
      <p:sp>
        <p:nvSpPr>
          <p:cNvPr id="56" name="Shape 48"/>
          <p:cNvSpPr/>
          <p:nvPr/>
        </p:nvSpPr>
        <p:spPr>
          <a:xfrm>
            <a:off x="8686800" y="2852928"/>
            <a:ext cx="2956255" cy="3410712"/>
          </a:xfrm>
          <a:prstGeom prst="roundRect">
            <a:avLst>
              <a:gd name="adj" fmla="val 4949"/>
            </a:avLst>
          </a:prstGeom>
          <a:solidFill>
            <a:srgbClr val="FFFFFF"/>
          </a:solidFill>
          <a:ln/>
          <a:effectLst>
            <a:outerShdw sx="100000" sy="100000" kx="0" ky="0" algn="bl" rotWithShape="0" blurRad="127000" dist="38100" dir="5400000">
              <a:srgbClr val="2B2D42">
                <a:alpha val="14000"/>
              </a:srgbClr>
            </a:outerShdw>
          </a:effectLst>
        </p:spPr>
      </p:sp>
      <p:sp>
        <p:nvSpPr>
          <p:cNvPr id="57" name="Text 49"/>
          <p:cNvSpPr txBox="1"/>
          <p:nvPr/>
        </p:nvSpPr>
        <p:spPr>
          <a:xfrm>
            <a:off x="8869680" y="3035808"/>
            <a:ext cx="2681935" cy="201168"/>
          </a:xfrm>
          <a:prstGeom prst="rect">
            <a:avLst/>
          </a:prstGeom>
          <a:noFill/>
          <a:ln/>
        </p:spPr>
        <p:txBody>
          <a:bodyPr wrap="square" lIns="0" tIns="0" rIns="0" bIns="0" rtlCol="0" anchor="t"/>
          <a:lstStyle/>
          <a:p>
            <a:pPr algn="l" indent="0" marL="0">
              <a:buNone/>
            </a:pPr>
            <a:r>
              <a:rPr lang="en-US" sz="1000" b="1" spc="150" kern="0" dirty="0">
                <a:solidFill>
                  <a:srgbClr val="7A4DFF"/>
                </a:solidFill>
              </a:rPr>
              <a:t>RISKS  →  MITIGATIONS</a:t>
            </a:r>
            <a:endParaRPr lang="en-US" sz="1000" dirty="0"/>
          </a:p>
        </p:txBody>
      </p:sp>
      <p:sp>
        <p:nvSpPr>
          <p:cNvPr id="58" name="Text 50"/>
          <p:cNvSpPr txBox="1"/>
          <p:nvPr/>
        </p:nvSpPr>
        <p:spPr>
          <a:xfrm>
            <a:off x="8869680" y="3383280"/>
            <a:ext cx="2636215" cy="219456"/>
          </a:xfrm>
          <a:prstGeom prst="rect">
            <a:avLst/>
          </a:prstGeom>
          <a:noFill/>
          <a:ln/>
        </p:spPr>
        <p:txBody>
          <a:bodyPr wrap="square" lIns="0" tIns="0" rIns="0" bIns="0" rtlCol="0" anchor="t"/>
          <a:lstStyle/>
          <a:p>
            <a:pPr algn="l" indent="0" marL="0">
              <a:buNone/>
            </a:pPr>
            <a:r>
              <a:rPr lang="en-US" sz="1200" b="1" dirty="0">
                <a:solidFill>
                  <a:srgbClr val="2B2D42"/>
                </a:solidFill>
              </a:rPr>
              <a:t>Wrong AI facts</a:t>
            </a:r>
            <a:endParaRPr lang="en-US" sz="1200" dirty="0"/>
          </a:p>
        </p:txBody>
      </p:sp>
      <p:sp>
        <p:nvSpPr>
          <p:cNvPr id="59" name="Text 51"/>
          <p:cNvSpPr txBox="1"/>
          <p:nvPr/>
        </p:nvSpPr>
        <p:spPr>
          <a:xfrm>
            <a:off x="8869680" y="3611880"/>
            <a:ext cx="2636215" cy="402336"/>
          </a:xfrm>
          <a:prstGeom prst="rect">
            <a:avLst/>
          </a:prstGeom>
          <a:noFill/>
          <a:ln/>
        </p:spPr>
        <p:txBody>
          <a:bodyPr wrap="square" lIns="0" tIns="0" rIns="0" bIns="0" rtlCol="0" anchor="t"/>
          <a:lstStyle/>
          <a:p>
            <a:pPr algn="l" indent="0" marL="0">
              <a:buNone/>
            </a:pPr>
            <a:r>
              <a:rPr lang="en-US" sz="1100" dirty="0">
                <a:solidFill>
                  <a:srgbClr val="5B5F80"/>
                </a:solidFill>
              </a:rPr>
              <a:t>schema validator, second-pass check, teacher review</a:t>
            </a:r>
            <a:endParaRPr lang="en-US" sz="1100" dirty="0"/>
          </a:p>
        </p:txBody>
      </p:sp>
      <p:sp>
        <p:nvSpPr>
          <p:cNvPr id="60" name="Text 52"/>
          <p:cNvSpPr txBox="1"/>
          <p:nvPr/>
        </p:nvSpPr>
        <p:spPr>
          <a:xfrm>
            <a:off x="8869680" y="4096512"/>
            <a:ext cx="2636215" cy="219456"/>
          </a:xfrm>
          <a:prstGeom prst="rect">
            <a:avLst/>
          </a:prstGeom>
          <a:noFill/>
          <a:ln/>
        </p:spPr>
        <p:txBody>
          <a:bodyPr wrap="square" lIns="0" tIns="0" rIns="0" bIns="0" rtlCol="0" anchor="t"/>
          <a:lstStyle/>
          <a:p>
            <a:pPr algn="l" indent="0" marL="0">
              <a:buNone/>
            </a:pPr>
            <a:r>
              <a:rPr lang="en-US" sz="1200" b="1" dirty="0">
                <a:solidFill>
                  <a:srgbClr val="2B2D42"/>
                </a:solidFill>
              </a:rPr>
              <a:t>AI latency</a:t>
            </a:r>
            <a:endParaRPr lang="en-US" sz="1200" dirty="0"/>
          </a:p>
        </p:txBody>
      </p:sp>
      <p:sp>
        <p:nvSpPr>
          <p:cNvPr id="61" name="Text 53"/>
          <p:cNvSpPr txBox="1"/>
          <p:nvPr/>
        </p:nvSpPr>
        <p:spPr>
          <a:xfrm>
            <a:off x="8869680" y="4325112"/>
            <a:ext cx="2636215" cy="402336"/>
          </a:xfrm>
          <a:prstGeom prst="rect">
            <a:avLst/>
          </a:prstGeom>
          <a:noFill/>
          <a:ln/>
        </p:spPr>
        <p:txBody>
          <a:bodyPr wrap="square" lIns="0" tIns="0" rIns="0" bIns="0" rtlCol="0" anchor="t"/>
          <a:lstStyle/>
          <a:p>
            <a:pPr algn="l" indent="0" marL="0">
              <a:buNone/>
            </a:pPr>
            <a:r>
              <a:rPr lang="en-US" sz="1100" dirty="0">
                <a:solidFill>
                  <a:srgbClr val="5B5F80"/>
                </a:solidFill>
              </a:rPr>
              <a:t>generate in the hub before the run; built-in bank fallback</a:t>
            </a:r>
            <a:endParaRPr lang="en-US" sz="1100" dirty="0"/>
          </a:p>
        </p:txBody>
      </p:sp>
      <p:sp>
        <p:nvSpPr>
          <p:cNvPr id="62" name="Text 54"/>
          <p:cNvSpPr txBox="1"/>
          <p:nvPr/>
        </p:nvSpPr>
        <p:spPr>
          <a:xfrm>
            <a:off x="8869680" y="4809744"/>
            <a:ext cx="2636215" cy="219456"/>
          </a:xfrm>
          <a:prstGeom prst="rect">
            <a:avLst/>
          </a:prstGeom>
          <a:noFill/>
          <a:ln/>
        </p:spPr>
        <p:txBody>
          <a:bodyPr wrap="square" lIns="0" tIns="0" rIns="0" bIns="0" rtlCol="0" anchor="t"/>
          <a:lstStyle/>
          <a:p>
            <a:pPr algn="l" indent="0" marL="0">
              <a:buNone/>
            </a:pPr>
            <a:r>
              <a:rPr lang="en-US" sz="1200" b="1" dirty="0">
                <a:solidFill>
                  <a:srgbClr val="2B2D42"/>
                </a:solidFill>
              </a:rPr>
              <a:t>Leaked API key</a:t>
            </a:r>
            <a:endParaRPr lang="en-US" sz="1200" dirty="0"/>
          </a:p>
        </p:txBody>
      </p:sp>
      <p:sp>
        <p:nvSpPr>
          <p:cNvPr id="63" name="Text 55"/>
          <p:cNvSpPr txBox="1"/>
          <p:nvPr/>
        </p:nvSpPr>
        <p:spPr>
          <a:xfrm>
            <a:off x="8869680" y="5038344"/>
            <a:ext cx="2636215" cy="402336"/>
          </a:xfrm>
          <a:prstGeom prst="rect">
            <a:avLst/>
          </a:prstGeom>
          <a:noFill/>
          <a:ln/>
        </p:spPr>
        <p:txBody>
          <a:bodyPr wrap="square" lIns="0" tIns="0" rIns="0" bIns="0" rtlCol="0" anchor="t"/>
          <a:lstStyle/>
          <a:p>
            <a:pPr algn="l" indent="0" marL="0">
              <a:buNone/>
            </a:pPr>
            <a:r>
              <a:rPr lang="en-US" sz="1100" dirty="0">
                <a:solidFill>
                  <a:srgbClr val="5B5F80"/>
                </a:solidFill>
              </a:rPr>
              <a:t>key stays on a server proxy, never in the browser</a:t>
            </a:r>
            <a:endParaRPr lang="en-US" sz="1100" dirty="0"/>
          </a:p>
        </p:txBody>
      </p:sp>
      <p:sp>
        <p:nvSpPr>
          <p:cNvPr id="64" name="Text 56"/>
          <p:cNvSpPr txBox="1"/>
          <p:nvPr/>
        </p:nvSpPr>
        <p:spPr>
          <a:xfrm>
            <a:off x="8869680" y="5522976"/>
            <a:ext cx="2636215" cy="219456"/>
          </a:xfrm>
          <a:prstGeom prst="rect">
            <a:avLst/>
          </a:prstGeom>
          <a:noFill/>
          <a:ln/>
        </p:spPr>
        <p:txBody>
          <a:bodyPr wrap="square" lIns="0" tIns="0" rIns="0" bIns="0" rtlCol="0" anchor="t"/>
          <a:lstStyle/>
          <a:p>
            <a:pPr algn="l" indent="0" marL="0">
              <a:buNone/>
            </a:pPr>
            <a:r>
              <a:rPr lang="en-US" sz="1200" b="1" dirty="0">
                <a:solidFill>
                  <a:srgbClr val="2B2D42"/>
                </a:solidFill>
              </a:rPr>
              <a:t>Lag in races</a:t>
            </a:r>
            <a:endParaRPr lang="en-US" sz="1200" dirty="0"/>
          </a:p>
        </p:txBody>
      </p:sp>
      <p:sp>
        <p:nvSpPr>
          <p:cNvPr id="65" name="Text 57"/>
          <p:cNvSpPr txBox="1"/>
          <p:nvPr/>
        </p:nvSpPr>
        <p:spPr>
          <a:xfrm>
            <a:off x="8869680" y="5751576"/>
            <a:ext cx="2636215" cy="402336"/>
          </a:xfrm>
          <a:prstGeom prst="rect">
            <a:avLst/>
          </a:prstGeom>
          <a:noFill/>
          <a:ln/>
        </p:spPr>
        <p:txBody>
          <a:bodyPr wrap="square" lIns="0" tIns="0" rIns="0" bIns="0" rtlCol="0" anchor="t"/>
          <a:lstStyle/>
          <a:p>
            <a:pPr algn="l" indent="0" marL="0">
              <a:buNone/>
            </a:pPr>
            <a:r>
              <a:rPr lang="en-US" sz="1100" dirty="0">
                <a:solidFill>
                  <a:srgbClr val="5B5F80"/>
                </a:solidFill>
              </a:rPr>
              <a:t>each client simulates locally; ghosts interpolate</a:t>
            </a:r>
            <a:endParaRPr lang="en-US" sz="1100" dirty="0"/>
          </a:p>
        </p:txBody>
      </p:sp>
      <p:sp>
        <p:nvSpPr>
          <p:cNvPr id="25" name="Slide Number Placeholder 0"/>
          <p:cNvSpPr>
            <a:spLocks noGrp="1"/>
          </p:cNvSpPr>
          <p:nvPr>
            <p:ph type="sldNum" sz="quarter" idx="4294967295"/>
          </p:nvPr>
        </p:nvSpPr>
        <p:spPr>
          <a:xfrm>
            <a:off x="11183112" y="641908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84048"/>
            <a:ext cx="2973629" cy="292608"/>
          </a:xfrm>
          <a:prstGeom prst="roundRect">
            <a:avLst>
              <a:gd name="adj" fmla="val 50000"/>
            </a:avLst>
          </a:prstGeom>
          <a:solidFill>
            <a:srgbClr val="FF4FA0"/>
          </a:solidFill>
          <a:ln/>
        </p:spPr>
        <p:txBody>
          <a:bodyPr wrap="square" lIns="0" tIns="0" rIns="0" bIns="0" rtlCol="0" anchor="ctr"/>
          <a:lstStyle/>
          <a:p>
            <a:pPr algn="ctr" indent="0" marL="0">
              <a:buNone/>
            </a:pPr>
            <a:r>
              <a:rPr lang="en-US" sz="1050" b="1" spc="150" kern="0" dirty="0">
                <a:solidFill>
                  <a:srgbClr val="FFFFFF"/>
                </a:solidFill>
              </a:rPr>
              <a:t>05  ·  IMPACT &amp; BENEFITS</a:t>
            </a:r>
            <a:endParaRPr lang="en-US" sz="1050" dirty="0"/>
          </a:p>
        </p:txBody>
      </p:sp>
      <p:sp>
        <p:nvSpPr>
          <p:cNvPr id="3" name="Text 0"/>
          <p:cNvSpPr/>
          <p:nvPr>
            <p:ph idx="100" type="title" hasCustomPrompt="1"/>
          </p:nvPr>
        </p:nvSpPr>
        <p:spPr>
          <a:xfrm>
            <a:off x="548640" y="731520"/>
            <a:ext cx="11064240" cy="713232"/>
          </a:xfrm>
          <a:prstGeom prst="rect">
            <a:avLst/>
          </a:prstGeom>
          <a:noFill/>
          <a:ln/>
        </p:spPr>
        <p:txBody>
          <a:bodyPr wrap="square" lIns="0" tIns="0" rIns="0" bIns="0" rtlCol="0" anchor="ctr"/>
          <a:lstStyle/>
          <a:p>
            <a:pPr algn="l" indent="0" marL="0">
              <a:buNone/>
            </a:pPr>
            <a:r>
              <a:rPr lang="en-US" sz="3400" dirty="0">
                <a:solidFill>
                  <a:schemeClr val="tx1"/>
                </a:solidFill>
                <a:latin typeface="Titan One" pitchFamily="34" charset="0"/>
                <a:ea typeface="Titan One" pitchFamily="34" charset="-122"/>
                <a:cs typeface="Titan One" pitchFamily="34" charset="-120"/>
              </a:rPr>
              <a:t>Mistakes become lessons</a:t>
            </a:r>
            <a:endParaRPr lang="en-US" sz="3400" dirty="0"/>
          </a:p>
        </p:txBody>
      </p:sp>
      <p:pic>
        <p:nvPicPr>
          <p:cNvPr id="4" name="results" descr="Results card with mastery per concept and a review of missed questions">    </p:cNvPr>
          <p:cNvPicPr>
            <a:picLocks noChangeAspect="1"/>
          </p:cNvPicPr>
          <p:nvPr/>
        </p:nvPicPr>
        <p:blipFill>
          <a:blip r:embed="rId1"/>
          <a:stretch>
            <a:fillRect/>
          </a:stretch>
        </p:blipFill>
        <p:spPr>
          <a:xfrm>
            <a:off x="410884" y="1526452"/>
            <a:ext cx="3795953" cy="4304886"/>
          </a:xfrm>
          <a:prstGeom prst="rect">
            <a:avLst/>
          </a:prstGeom>
        </p:spPr>
      </p:pic>
      <p:sp>
        <p:nvSpPr>
          <p:cNvPr id="5" name="prototype-label"/>
          <p:cNvSpPr txBox="1"/>
          <p:nvPr/>
        </p:nvSpPr>
        <p:spPr>
          <a:xfrm>
            <a:off x="1783080" y="1517904"/>
            <a:ext cx="2148840" cy="274320"/>
          </a:xfrm>
          <a:prstGeom prst="roundRect">
            <a:avLst>
              <a:gd name="adj" fmla="val 50000"/>
            </a:avLst>
          </a:prstGeom>
          <a:solidFill>
            <a:srgbClr val="2B2D42"/>
          </a:solidFill>
          <a:ln/>
          <a:effectLst>
            <a:outerShdw sx="100000" sy="100000" kx="0" ky="0" algn="bl" rotWithShape="0" blurRad="127000" dist="38100" dir="5400000">
              <a:srgbClr val="2B2D42">
                <a:alpha val="14000"/>
              </a:srgbClr>
            </a:outerShdw>
          </a:effectLst>
        </p:spPr>
        <p:txBody>
          <a:bodyPr wrap="square" lIns="0" tIns="0" rIns="0" bIns="0" rtlCol="0" anchor="ctr"/>
          <a:lstStyle/>
          <a:p>
            <a:pPr algn="ctr" indent="0" marL="0">
              <a:buNone/>
            </a:pPr>
            <a:r>
              <a:rPr lang="en-US" sz="950" b="1" spc="100" kern="0" dirty="0">
                <a:solidFill>
                  <a:srgbClr val="FFFFFF"/>
                </a:solidFill>
              </a:rPr>
              <a:t>EARLY CONCEPT PROTOTYPE</a:t>
            </a:r>
            <a:endParaRPr lang="en-US" sz="950" dirty="0"/>
          </a:p>
        </p:txBody>
      </p:sp>
      <p:sp>
        <p:nvSpPr>
          <p:cNvPr id="6" name="Text 3"/>
          <p:cNvSpPr txBox="1"/>
          <p:nvPr/>
        </p:nvSpPr>
        <p:spPr>
          <a:xfrm>
            <a:off x="548640" y="5785021"/>
            <a:ext cx="3520440" cy="384048"/>
          </a:xfrm>
          <a:prstGeom prst="rect">
            <a:avLst/>
          </a:prstGeom>
          <a:noFill/>
          <a:ln/>
        </p:spPr>
        <p:txBody>
          <a:bodyPr wrap="square" lIns="0" tIns="0" rIns="0" bIns="0" rtlCol="0" anchor="t"/>
          <a:lstStyle/>
          <a:p>
            <a:pPr algn="l" indent="0" marL="0">
              <a:buNone/>
            </a:pPr>
            <a:r>
              <a:rPr lang="en-US" sz="1100" i="1" dirty="0">
                <a:solidFill>
                  <a:srgbClr val="5B5F80"/>
                </a:solidFill>
              </a:rPr>
              <a:t>Planned: every run ends with mastery per concept and a review of every miss.</a:t>
            </a:r>
            <a:endParaRPr lang="en-US" sz="1100" dirty="0"/>
          </a:p>
        </p:txBody>
      </p:sp>
      <p:sp>
        <p:nvSpPr>
          <p:cNvPr id="7" name="Shape 4"/>
          <p:cNvSpPr/>
          <p:nvPr/>
        </p:nvSpPr>
        <p:spPr>
          <a:xfrm>
            <a:off x="6861801" y="2834640"/>
            <a:ext cx="272740" cy="227220"/>
          </a:xfrm>
          <a:prstGeom prst="line">
            <a:avLst/>
          </a:prstGeom>
          <a:noFill/>
          <a:ln w="25400">
            <a:solidFill>
              <a:srgbClr val="A3A7C2"/>
            </a:solidFill>
            <a:prstDash val="solid"/>
            <a:tailEnd type="triangle"/>
          </a:ln>
        </p:spPr>
      </p:sp>
      <p:sp>
        <p:nvSpPr>
          <p:cNvPr id="8" name="Shape 5"/>
          <p:cNvSpPr/>
          <p:nvPr/>
        </p:nvSpPr>
        <p:spPr>
          <a:xfrm flipH="1">
            <a:off x="7273921" y="3921396"/>
            <a:ext cx="254705" cy="898872"/>
          </a:xfrm>
          <a:prstGeom prst="line">
            <a:avLst/>
          </a:prstGeom>
          <a:noFill/>
          <a:ln w="25400">
            <a:solidFill>
              <a:srgbClr val="A3A7C2"/>
            </a:solidFill>
            <a:prstDash val="solid"/>
            <a:tailEnd type="triangle"/>
          </a:ln>
        </p:spPr>
      </p:sp>
      <p:sp>
        <p:nvSpPr>
          <p:cNvPr id="9" name="Shape 6"/>
          <p:cNvSpPr/>
          <p:nvPr/>
        </p:nvSpPr>
        <p:spPr>
          <a:xfrm flipH="1">
            <a:off x="6252962" y="5250036"/>
            <a:ext cx="185949" cy="914"/>
          </a:xfrm>
          <a:prstGeom prst="line">
            <a:avLst/>
          </a:prstGeom>
          <a:noFill/>
          <a:ln w="25400">
            <a:solidFill>
              <a:srgbClr val="A3A7C2"/>
            </a:solidFill>
            <a:prstDash val="solid"/>
            <a:tailEnd type="triangle"/>
          </a:ln>
        </p:spPr>
      </p:sp>
      <p:sp>
        <p:nvSpPr>
          <p:cNvPr id="10" name="Shape 7"/>
          <p:cNvSpPr/>
          <p:nvPr/>
        </p:nvSpPr>
        <p:spPr>
          <a:xfrm flipH="1" flipV="1">
            <a:off x="5163246" y="3921396"/>
            <a:ext cx="254705" cy="898872"/>
          </a:xfrm>
          <a:prstGeom prst="line">
            <a:avLst/>
          </a:prstGeom>
          <a:noFill/>
          <a:ln w="25400">
            <a:solidFill>
              <a:srgbClr val="A3A7C2"/>
            </a:solidFill>
            <a:prstDash val="solid"/>
            <a:tailEnd type="triangle"/>
          </a:ln>
        </p:spPr>
      </p:sp>
      <p:sp>
        <p:nvSpPr>
          <p:cNvPr id="11" name="Shape 8"/>
          <p:cNvSpPr/>
          <p:nvPr/>
        </p:nvSpPr>
        <p:spPr>
          <a:xfrm flipV="1">
            <a:off x="5557332" y="2834640"/>
            <a:ext cx="272740" cy="227220"/>
          </a:xfrm>
          <a:prstGeom prst="line">
            <a:avLst/>
          </a:prstGeom>
          <a:noFill/>
          <a:ln w="25400">
            <a:solidFill>
              <a:srgbClr val="A3A7C2"/>
            </a:solidFill>
            <a:prstDash val="solid"/>
            <a:tailEnd type="triangle"/>
          </a:ln>
        </p:spPr>
      </p:sp>
      <p:sp>
        <p:nvSpPr>
          <p:cNvPr id="12" name="Shape 9"/>
          <p:cNvSpPr/>
          <p:nvPr/>
        </p:nvSpPr>
        <p:spPr>
          <a:xfrm>
            <a:off x="5696712" y="2039112"/>
            <a:ext cx="1298448" cy="731520"/>
          </a:xfrm>
          <a:prstGeom prst="roundRect">
            <a:avLst>
              <a:gd name="adj" fmla="val 17500"/>
            </a:avLst>
          </a:prstGeom>
          <a:solidFill>
            <a:srgbClr val="DDF2FF"/>
          </a:solidFill>
          <a:ln w="15875">
            <a:solidFill>
              <a:srgbClr val="6EC6FF"/>
            </a:solidFill>
            <a:prstDash val="solid"/>
          </a:ln>
        </p:spPr>
      </p:sp>
      <p:sp>
        <p:nvSpPr>
          <p:cNvPr id="13" name="Text 10"/>
          <p:cNvSpPr txBox="1"/>
          <p:nvPr/>
        </p:nvSpPr>
        <p:spPr>
          <a:xfrm>
            <a:off x="5696712" y="2121408"/>
            <a:ext cx="1298448" cy="237744"/>
          </a:xfrm>
          <a:prstGeom prst="rect">
            <a:avLst/>
          </a:prstGeom>
          <a:noFill/>
          <a:ln/>
        </p:spPr>
        <p:txBody>
          <a:bodyPr wrap="square" lIns="0" tIns="0" rIns="0" bIns="0" rtlCol="0" anchor="t"/>
          <a:lstStyle/>
          <a:p>
            <a:pPr algn="ctr" indent="0" marL="0">
              <a:buNone/>
            </a:pPr>
            <a:r>
              <a:rPr lang="en-US" sz="1200" b="1" dirty="0">
                <a:solidFill>
                  <a:srgbClr val="2B2D42"/>
                </a:solidFill>
              </a:rPr>
              <a:t>TRY</a:t>
            </a:r>
            <a:endParaRPr lang="en-US" sz="1200" dirty="0"/>
          </a:p>
        </p:txBody>
      </p:sp>
      <p:sp>
        <p:nvSpPr>
          <p:cNvPr id="14" name="Text 11"/>
          <p:cNvSpPr txBox="1"/>
          <p:nvPr/>
        </p:nvSpPr>
        <p:spPr>
          <a:xfrm>
            <a:off x="5751576" y="2368296"/>
            <a:ext cx="1188720" cy="365760"/>
          </a:xfrm>
          <a:prstGeom prst="rect">
            <a:avLst/>
          </a:prstGeom>
          <a:noFill/>
          <a:ln/>
        </p:spPr>
        <p:txBody>
          <a:bodyPr wrap="square" lIns="0" tIns="0" rIns="0" bIns="0" rtlCol="0" anchor="t"/>
          <a:lstStyle/>
          <a:p>
            <a:pPr algn="ctr" indent="0" marL="0">
              <a:buNone/>
            </a:pPr>
            <a:r>
              <a:rPr lang="en-US" sz="1000" dirty="0">
                <a:solidFill>
                  <a:srgbClr val="5B5F80"/>
                </a:solidFill>
              </a:rPr>
              <a:t>answer in the maze</a:t>
            </a:r>
            <a:endParaRPr lang="en-US" sz="1000" dirty="0"/>
          </a:p>
        </p:txBody>
      </p:sp>
      <p:sp>
        <p:nvSpPr>
          <p:cNvPr id="15" name="Shape 12"/>
          <p:cNvSpPr/>
          <p:nvPr/>
        </p:nvSpPr>
        <p:spPr>
          <a:xfrm>
            <a:off x="7001181" y="3125868"/>
            <a:ext cx="1298448" cy="731520"/>
          </a:xfrm>
          <a:prstGeom prst="roundRect">
            <a:avLst>
              <a:gd name="adj" fmla="val 17500"/>
            </a:avLst>
          </a:prstGeom>
          <a:solidFill>
            <a:srgbClr val="FFF3CF"/>
          </a:solidFill>
          <a:ln w="15875">
            <a:solidFill>
              <a:srgbClr val="E8B21E"/>
            </a:solidFill>
            <a:prstDash val="solid"/>
          </a:ln>
        </p:spPr>
      </p:sp>
      <p:sp>
        <p:nvSpPr>
          <p:cNvPr id="16" name="Text 13"/>
          <p:cNvSpPr txBox="1"/>
          <p:nvPr/>
        </p:nvSpPr>
        <p:spPr>
          <a:xfrm>
            <a:off x="7001181" y="3208164"/>
            <a:ext cx="1298448" cy="237744"/>
          </a:xfrm>
          <a:prstGeom prst="rect">
            <a:avLst/>
          </a:prstGeom>
          <a:noFill/>
          <a:ln/>
        </p:spPr>
        <p:txBody>
          <a:bodyPr wrap="square" lIns="0" tIns="0" rIns="0" bIns="0" rtlCol="0" anchor="t"/>
          <a:lstStyle/>
          <a:p>
            <a:pPr algn="ctr" indent="0" marL="0">
              <a:buNone/>
            </a:pPr>
            <a:r>
              <a:rPr lang="en-US" sz="1200" b="1" dirty="0">
                <a:solidFill>
                  <a:srgbClr val="2B2D42"/>
                </a:solidFill>
              </a:rPr>
              <a:t>FEEDBACK</a:t>
            </a:r>
            <a:endParaRPr lang="en-US" sz="1200" dirty="0"/>
          </a:p>
        </p:txBody>
      </p:sp>
      <p:sp>
        <p:nvSpPr>
          <p:cNvPr id="17" name="Text 14"/>
          <p:cNvSpPr txBox="1"/>
          <p:nvPr/>
        </p:nvSpPr>
        <p:spPr>
          <a:xfrm>
            <a:off x="7056045" y="3455052"/>
            <a:ext cx="1188720" cy="365760"/>
          </a:xfrm>
          <a:prstGeom prst="rect">
            <a:avLst/>
          </a:prstGeom>
          <a:noFill/>
          <a:ln/>
        </p:spPr>
        <p:txBody>
          <a:bodyPr wrap="square" lIns="0" tIns="0" rIns="0" bIns="0" rtlCol="0" anchor="t"/>
          <a:lstStyle/>
          <a:p>
            <a:pPr algn="ctr" indent="0" marL="0">
              <a:buNone/>
            </a:pPr>
            <a:r>
              <a:rPr lang="en-US" sz="1000" dirty="0">
                <a:solidFill>
                  <a:srgbClr val="5B5F80"/>
                </a:solidFill>
              </a:rPr>
              <a:t>instant ✓ or ✗</a:t>
            </a:r>
            <a:endParaRPr lang="en-US" sz="1000" dirty="0"/>
          </a:p>
        </p:txBody>
      </p:sp>
      <p:sp>
        <p:nvSpPr>
          <p:cNvPr id="18" name="Shape 15"/>
          <p:cNvSpPr/>
          <p:nvPr/>
        </p:nvSpPr>
        <p:spPr>
          <a:xfrm>
            <a:off x="6502918" y="4884276"/>
            <a:ext cx="1298448" cy="731520"/>
          </a:xfrm>
          <a:prstGeom prst="roundRect">
            <a:avLst>
              <a:gd name="adj" fmla="val 17500"/>
            </a:avLst>
          </a:prstGeom>
          <a:solidFill>
            <a:srgbClr val="FFE3F0"/>
          </a:solidFill>
          <a:ln w="15875">
            <a:solidFill>
              <a:srgbClr val="FF4FA0"/>
            </a:solidFill>
            <a:prstDash val="solid"/>
          </a:ln>
        </p:spPr>
      </p:sp>
      <p:sp>
        <p:nvSpPr>
          <p:cNvPr id="19" name="Text 16"/>
          <p:cNvSpPr txBox="1"/>
          <p:nvPr/>
        </p:nvSpPr>
        <p:spPr>
          <a:xfrm>
            <a:off x="6502918" y="4966572"/>
            <a:ext cx="1298448" cy="237744"/>
          </a:xfrm>
          <a:prstGeom prst="rect">
            <a:avLst/>
          </a:prstGeom>
          <a:noFill/>
          <a:ln/>
        </p:spPr>
        <p:txBody>
          <a:bodyPr wrap="square" lIns="0" tIns="0" rIns="0" bIns="0" rtlCol="0" anchor="t"/>
          <a:lstStyle/>
          <a:p>
            <a:pPr algn="ctr" indent="0" marL="0">
              <a:buNone/>
            </a:pPr>
            <a:r>
              <a:rPr lang="en-US" sz="1200" b="1" dirty="0">
                <a:solidFill>
                  <a:srgbClr val="2B2D42"/>
                </a:solidFill>
              </a:rPr>
              <a:t>EXPLAIN</a:t>
            </a:r>
            <a:endParaRPr lang="en-US" sz="1200" dirty="0"/>
          </a:p>
        </p:txBody>
      </p:sp>
      <p:sp>
        <p:nvSpPr>
          <p:cNvPr id="20" name="Text 17"/>
          <p:cNvSpPr txBox="1"/>
          <p:nvPr/>
        </p:nvSpPr>
        <p:spPr>
          <a:xfrm>
            <a:off x="6557782" y="5213460"/>
            <a:ext cx="1188720" cy="365760"/>
          </a:xfrm>
          <a:prstGeom prst="rect">
            <a:avLst/>
          </a:prstGeom>
          <a:noFill/>
          <a:ln/>
        </p:spPr>
        <p:txBody>
          <a:bodyPr wrap="square" lIns="0" tIns="0" rIns="0" bIns="0" rtlCol="0" anchor="t"/>
          <a:lstStyle/>
          <a:p>
            <a:pPr algn="ctr" indent="0" marL="0">
              <a:buNone/>
            </a:pPr>
            <a:r>
              <a:rPr lang="en-US" sz="1000" dirty="0">
                <a:solidFill>
                  <a:srgbClr val="5B5F80"/>
                </a:solidFill>
              </a:rPr>
              <a:t>answer + worked example</a:t>
            </a:r>
            <a:endParaRPr lang="en-US" sz="1000" dirty="0"/>
          </a:p>
        </p:txBody>
      </p:sp>
      <p:sp>
        <p:nvSpPr>
          <p:cNvPr id="21" name="Shape 18"/>
          <p:cNvSpPr/>
          <p:nvPr/>
        </p:nvSpPr>
        <p:spPr>
          <a:xfrm>
            <a:off x="4890506" y="4884276"/>
            <a:ext cx="1298448" cy="731520"/>
          </a:xfrm>
          <a:prstGeom prst="roundRect">
            <a:avLst>
              <a:gd name="adj" fmla="val 17500"/>
            </a:avLst>
          </a:prstGeom>
          <a:solidFill>
            <a:srgbClr val="EAE2FF"/>
          </a:solidFill>
          <a:ln w="15875">
            <a:solidFill>
              <a:srgbClr val="7A4DFF"/>
            </a:solidFill>
            <a:prstDash val="solid"/>
          </a:ln>
        </p:spPr>
      </p:sp>
      <p:sp>
        <p:nvSpPr>
          <p:cNvPr id="22" name="Text 19"/>
          <p:cNvSpPr txBox="1"/>
          <p:nvPr/>
        </p:nvSpPr>
        <p:spPr>
          <a:xfrm>
            <a:off x="4890506" y="4966572"/>
            <a:ext cx="1298448" cy="237744"/>
          </a:xfrm>
          <a:prstGeom prst="rect">
            <a:avLst/>
          </a:prstGeom>
          <a:noFill/>
          <a:ln/>
        </p:spPr>
        <p:txBody>
          <a:bodyPr wrap="square" lIns="0" tIns="0" rIns="0" bIns="0" rtlCol="0" anchor="t"/>
          <a:lstStyle/>
          <a:p>
            <a:pPr algn="ctr" indent="0" marL="0">
              <a:buNone/>
            </a:pPr>
            <a:r>
              <a:rPr lang="en-US" sz="1200" b="1" dirty="0">
                <a:solidFill>
                  <a:srgbClr val="2B2D42"/>
                </a:solidFill>
              </a:rPr>
              <a:t>RETRY</a:t>
            </a:r>
            <a:endParaRPr lang="en-US" sz="1200" dirty="0"/>
          </a:p>
        </p:txBody>
      </p:sp>
      <p:sp>
        <p:nvSpPr>
          <p:cNvPr id="23" name="Text 20"/>
          <p:cNvSpPr txBox="1"/>
          <p:nvPr/>
        </p:nvSpPr>
        <p:spPr>
          <a:xfrm>
            <a:off x="4945370" y="5213460"/>
            <a:ext cx="1188720" cy="365760"/>
          </a:xfrm>
          <a:prstGeom prst="rect">
            <a:avLst/>
          </a:prstGeom>
          <a:noFill/>
          <a:ln/>
        </p:spPr>
        <p:txBody>
          <a:bodyPr wrap="square" lIns="0" tIns="0" rIns="0" bIns="0" rtlCol="0" anchor="t"/>
          <a:lstStyle/>
          <a:p>
            <a:pPr algn="ctr" indent="0" marL="0">
              <a:buNone/>
            </a:pPr>
            <a:r>
              <a:rPr lang="en-US" sz="1000" dirty="0">
                <a:solidFill>
                  <a:srgbClr val="5B5F80"/>
                </a:solidFill>
              </a:rPr>
              <a:t>a similar question</a:t>
            </a:r>
            <a:endParaRPr lang="en-US" sz="1000" dirty="0"/>
          </a:p>
        </p:txBody>
      </p:sp>
      <p:sp>
        <p:nvSpPr>
          <p:cNvPr id="24" name="Shape 21"/>
          <p:cNvSpPr/>
          <p:nvPr/>
        </p:nvSpPr>
        <p:spPr>
          <a:xfrm>
            <a:off x="4392243" y="3125868"/>
            <a:ext cx="1298448" cy="731520"/>
          </a:xfrm>
          <a:prstGeom prst="roundRect">
            <a:avLst>
              <a:gd name="adj" fmla="val 17500"/>
            </a:avLst>
          </a:prstGeom>
          <a:solidFill>
            <a:srgbClr val="DDF6E5"/>
          </a:solidFill>
          <a:ln w="15875">
            <a:solidFill>
              <a:srgbClr val="3DBE6A"/>
            </a:solidFill>
            <a:prstDash val="solid"/>
          </a:ln>
        </p:spPr>
      </p:sp>
      <p:sp>
        <p:nvSpPr>
          <p:cNvPr id="25" name="Text 22"/>
          <p:cNvSpPr txBox="1"/>
          <p:nvPr/>
        </p:nvSpPr>
        <p:spPr>
          <a:xfrm>
            <a:off x="4392243" y="3208164"/>
            <a:ext cx="1298448" cy="237744"/>
          </a:xfrm>
          <a:prstGeom prst="rect">
            <a:avLst/>
          </a:prstGeom>
          <a:noFill/>
          <a:ln/>
        </p:spPr>
        <p:txBody>
          <a:bodyPr wrap="square" lIns="0" tIns="0" rIns="0" bIns="0" rtlCol="0" anchor="t"/>
          <a:lstStyle/>
          <a:p>
            <a:pPr algn="ctr" indent="0" marL="0">
              <a:buNone/>
            </a:pPr>
            <a:r>
              <a:rPr lang="en-US" sz="1200" b="1" dirty="0">
                <a:solidFill>
                  <a:srgbClr val="2B2D42"/>
                </a:solidFill>
              </a:rPr>
              <a:t>ADAPT</a:t>
            </a:r>
            <a:endParaRPr lang="en-US" sz="1200" dirty="0"/>
          </a:p>
        </p:txBody>
      </p:sp>
      <p:sp>
        <p:nvSpPr>
          <p:cNvPr id="26" name="Text 23"/>
          <p:cNvSpPr txBox="1"/>
          <p:nvPr/>
        </p:nvSpPr>
        <p:spPr>
          <a:xfrm>
            <a:off x="4447107" y="3455052"/>
            <a:ext cx="1188720" cy="365760"/>
          </a:xfrm>
          <a:prstGeom prst="rect">
            <a:avLst/>
          </a:prstGeom>
          <a:noFill/>
          <a:ln/>
        </p:spPr>
        <p:txBody>
          <a:bodyPr wrap="square" lIns="0" tIns="0" rIns="0" bIns="0" rtlCol="0" anchor="t"/>
          <a:lstStyle/>
          <a:p>
            <a:pPr algn="ctr" indent="0" marL="0">
              <a:buNone/>
            </a:pPr>
            <a:r>
              <a:rPr lang="en-US" sz="1000" dirty="0">
                <a:solidFill>
                  <a:srgbClr val="5B5F80"/>
                </a:solidFill>
              </a:rPr>
              <a:t>tier + weak spots</a:t>
            </a:r>
            <a:endParaRPr lang="en-US" sz="1000" dirty="0"/>
          </a:p>
        </p:txBody>
      </p:sp>
      <p:pic>
        <p:nvPicPr>
          <p:cNvPr id="27" name="Image 1" descr="Bean mascot">    </p:cNvPr>
          <p:cNvPicPr>
            <a:picLocks noChangeAspect="1"/>
          </p:cNvPicPr>
          <p:nvPr/>
        </p:nvPicPr>
        <p:blipFill>
          <a:blip r:embed="rId2"/>
          <a:stretch>
            <a:fillRect/>
          </a:stretch>
        </p:blipFill>
        <p:spPr>
          <a:xfrm>
            <a:off x="6126480" y="3474720"/>
            <a:ext cx="438912" cy="749808"/>
          </a:xfrm>
          <a:prstGeom prst="rect">
            <a:avLst/>
          </a:prstGeom>
        </p:spPr>
      </p:pic>
      <p:sp>
        <p:nvSpPr>
          <p:cNvPr id="28" name="Text 24"/>
          <p:cNvSpPr txBox="1"/>
          <p:nvPr/>
        </p:nvSpPr>
        <p:spPr>
          <a:xfrm>
            <a:off x="5431536" y="4270248"/>
            <a:ext cx="1828800" cy="219456"/>
          </a:xfrm>
          <a:prstGeom prst="rect">
            <a:avLst/>
          </a:prstGeom>
          <a:noFill/>
          <a:ln/>
        </p:spPr>
        <p:txBody>
          <a:bodyPr wrap="square" lIns="0" tIns="0" rIns="0" bIns="0" rtlCol="0" anchor="t"/>
          <a:lstStyle/>
          <a:p>
            <a:pPr algn="ctr" indent="0" marL="0">
              <a:buNone/>
            </a:pPr>
            <a:r>
              <a:rPr lang="en-US" sz="1000" b="1" spc="150" kern="0" dirty="0">
                <a:solidFill>
                  <a:srgbClr val="FF4FA0"/>
                </a:solidFill>
              </a:rPr>
              <a:t>THE LEARNING LOOP</a:t>
            </a:r>
            <a:endParaRPr lang="en-US" sz="1000" dirty="0"/>
          </a:p>
        </p:txBody>
      </p:sp>
      <p:sp>
        <p:nvSpPr>
          <p:cNvPr id="29" name="Shape 25"/>
          <p:cNvSpPr/>
          <p:nvPr/>
        </p:nvSpPr>
        <p:spPr>
          <a:xfrm>
            <a:off x="8613648" y="1664208"/>
            <a:ext cx="3029407" cy="1371600"/>
          </a:xfrm>
          <a:prstGeom prst="roundRect">
            <a:avLst>
              <a:gd name="adj" fmla="val 10667"/>
            </a:avLst>
          </a:prstGeom>
          <a:solidFill>
            <a:srgbClr val="FFFFFF"/>
          </a:solidFill>
          <a:ln/>
          <a:effectLst>
            <a:outerShdw sx="100000" sy="100000" kx="0" ky="0" algn="bl" rotWithShape="0" blurRad="127000" dist="38100" dir="5400000">
              <a:srgbClr val="2B2D42">
                <a:alpha val="14000"/>
              </a:srgbClr>
            </a:outerShdw>
          </a:effectLst>
        </p:spPr>
      </p:sp>
      <p:sp>
        <p:nvSpPr>
          <p:cNvPr id="30" name="Shape 26"/>
          <p:cNvSpPr/>
          <p:nvPr/>
        </p:nvSpPr>
        <p:spPr>
          <a:xfrm>
            <a:off x="8796528" y="1847088"/>
            <a:ext cx="420624" cy="420624"/>
          </a:xfrm>
          <a:prstGeom prst="ellipse">
            <a:avLst/>
          </a:prstGeom>
          <a:solidFill>
            <a:srgbClr val="FFE3F0"/>
          </a:solidFill>
          <a:ln/>
        </p:spPr>
      </p:sp>
      <p:pic>
        <p:nvPicPr>
          <p:cNvPr id="31" name="Image 2" descr="preencoded.png">    </p:cNvPr>
          <p:cNvPicPr>
            <a:picLocks noChangeAspect="1"/>
          </p:cNvPicPr>
          <p:nvPr/>
        </p:nvPicPr>
        <p:blipFill>
          <a:blip r:embed="rId3"/>
          <a:stretch>
            <a:fillRect/>
          </a:stretch>
        </p:blipFill>
        <p:spPr>
          <a:xfrm>
            <a:off x="8889065" y="1939625"/>
            <a:ext cx="235549" cy="235549"/>
          </a:xfrm>
          <a:prstGeom prst="rect">
            <a:avLst/>
          </a:prstGeom>
        </p:spPr>
      </p:pic>
      <p:sp>
        <p:nvSpPr>
          <p:cNvPr id="32" name="Text 27"/>
          <p:cNvSpPr txBox="1"/>
          <p:nvPr/>
        </p:nvSpPr>
        <p:spPr>
          <a:xfrm>
            <a:off x="9345168" y="1901952"/>
            <a:ext cx="2115007" cy="310896"/>
          </a:xfrm>
          <a:prstGeom prst="rect">
            <a:avLst/>
          </a:prstGeom>
          <a:noFill/>
          <a:ln/>
        </p:spPr>
        <p:txBody>
          <a:bodyPr wrap="square" lIns="0" tIns="0" rIns="0" bIns="0" rtlCol="0" anchor="ctr"/>
          <a:lstStyle/>
          <a:p>
            <a:pPr algn="l" indent="0" marL="0">
              <a:buNone/>
            </a:pPr>
            <a:r>
              <a:rPr lang="en-US" sz="1500" b="1" dirty="0">
                <a:solidFill>
                  <a:srgbClr val="2B2D42"/>
                </a:solidFill>
              </a:rPr>
              <a:t>Students</a:t>
            </a:r>
            <a:endParaRPr lang="en-US" sz="1500" dirty="0"/>
          </a:p>
        </p:txBody>
      </p:sp>
      <p:sp>
        <p:nvSpPr>
          <p:cNvPr id="33" name="Text 28"/>
          <p:cNvSpPr txBox="1"/>
          <p:nvPr/>
        </p:nvSpPr>
        <p:spPr>
          <a:xfrm>
            <a:off x="8796528" y="2377440"/>
            <a:ext cx="2681935" cy="585216"/>
          </a:xfrm>
          <a:prstGeom prst="rect">
            <a:avLst/>
          </a:prstGeom>
          <a:noFill/>
          <a:ln/>
        </p:spPr>
        <p:txBody>
          <a:bodyPr wrap="square" lIns="0" tIns="0" rIns="0" bIns="0" rtlCol="0" anchor="t"/>
          <a:lstStyle/>
          <a:p>
            <a:pPr algn="l" indent="0" marL="0">
              <a:buNone/>
            </a:pPr>
            <a:r>
              <a:rPr lang="en-US" sz="1150" dirty="0">
                <a:solidFill>
                  <a:srgbClr val="5B5F80"/>
                </a:solidFill>
              </a:rPr>
              <a:t>Active recall in every room, safe low-stakes mistakes, and races with friends.</a:t>
            </a:r>
            <a:endParaRPr lang="en-US" sz="1150" dirty="0"/>
          </a:p>
        </p:txBody>
      </p:sp>
      <p:sp>
        <p:nvSpPr>
          <p:cNvPr id="34" name="Shape 29"/>
          <p:cNvSpPr/>
          <p:nvPr/>
        </p:nvSpPr>
        <p:spPr>
          <a:xfrm>
            <a:off x="8613648" y="3200400"/>
            <a:ext cx="3029407" cy="1371600"/>
          </a:xfrm>
          <a:prstGeom prst="roundRect">
            <a:avLst>
              <a:gd name="adj" fmla="val 10667"/>
            </a:avLst>
          </a:prstGeom>
          <a:solidFill>
            <a:srgbClr val="FFFFFF"/>
          </a:solidFill>
          <a:ln/>
          <a:effectLst>
            <a:outerShdw sx="100000" sy="100000" kx="0" ky="0" algn="bl" rotWithShape="0" blurRad="127000" dist="38100" dir="5400000">
              <a:srgbClr val="2B2D42">
                <a:alpha val="14000"/>
              </a:srgbClr>
            </a:outerShdw>
          </a:effectLst>
        </p:spPr>
      </p:sp>
      <p:sp>
        <p:nvSpPr>
          <p:cNvPr id="35" name="Shape 30"/>
          <p:cNvSpPr/>
          <p:nvPr/>
        </p:nvSpPr>
        <p:spPr>
          <a:xfrm>
            <a:off x="8796528" y="3383280"/>
            <a:ext cx="420624" cy="420624"/>
          </a:xfrm>
          <a:prstGeom prst="ellipse">
            <a:avLst/>
          </a:prstGeom>
          <a:solidFill>
            <a:srgbClr val="EAE2FF"/>
          </a:solidFill>
          <a:ln/>
        </p:spPr>
      </p:sp>
      <p:pic>
        <p:nvPicPr>
          <p:cNvPr id="36" name="Image 3" descr="preencoded.png">    </p:cNvPr>
          <p:cNvPicPr>
            <a:picLocks noChangeAspect="1"/>
          </p:cNvPicPr>
          <p:nvPr/>
        </p:nvPicPr>
        <p:blipFill>
          <a:blip r:embed="rId4"/>
          <a:stretch>
            <a:fillRect/>
          </a:stretch>
        </p:blipFill>
        <p:spPr>
          <a:xfrm>
            <a:off x="8889065" y="3475817"/>
            <a:ext cx="235549" cy="235549"/>
          </a:xfrm>
          <a:prstGeom prst="rect">
            <a:avLst/>
          </a:prstGeom>
        </p:spPr>
      </p:pic>
      <p:sp>
        <p:nvSpPr>
          <p:cNvPr id="37" name="Text 31"/>
          <p:cNvSpPr txBox="1"/>
          <p:nvPr/>
        </p:nvSpPr>
        <p:spPr>
          <a:xfrm>
            <a:off x="9345168" y="3438144"/>
            <a:ext cx="2115007" cy="310896"/>
          </a:xfrm>
          <a:prstGeom prst="rect">
            <a:avLst/>
          </a:prstGeom>
          <a:noFill/>
          <a:ln/>
        </p:spPr>
        <p:txBody>
          <a:bodyPr wrap="square" lIns="0" tIns="0" rIns="0" bIns="0" rtlCol="0" anchor="ctr"/>
          <a:lstStyle/>
          <a:p>
            <a:pPr algn="l" indent="0" marL="0">
              <a:buNone/>
            </a:pPr>
            <a:r>
              <a:rPr lang="en-US" sz="1500" b="1" dirty="0">
                <a:solidFill>
                  <a:srgbClr val="2B2D42"/>
                </a:solidFill>
              </a:rPr>
              <a:t>Teachers</a:t>
            </a:r>
            <a:endParaRPr lang="en-US" sz="1500" dirty="0"/>
          </a:p>
        </p:txBody>
      </p:sp>
      <p:sp>
        <p:nvSpPr>
          <p:cNvPr id="38" name="Text 32"/>
          <p:cNvSpPr txBox="1"/>
          <p:nvPr/>
        </p:nvSpPr>
        <p:spPr>
          <a:xfrm>
            <a:off x="8796528" y="3913632"/>
            <a:ext cx="2681935" cy="585216"/>
          </a:xfrm>
          <a:prstGeom prst="rect">
            <a:avLst/>
          </a:prstGeom>
          <a:noFill/>
          <a:ln/>
        </p:spPr>
        <p:txBody>
          <a:bodyPr wrap="square" lIns="0" tIns="0" rIns="0" bIns="0" rtlCol="0" anchor="t"/>
          <a:lstStyle/>
          <a:p>
            <a:pPr algn="l" indent="0" marL="0">
              <a:buNone/>
            </a:pPr>
            <a:r>
              <a:rPr lang="en-US" sz="1150" dirty="0">
                <a:solidFill>
                  <a:srgbClr val="5B5F80"/>
                </a:solidFill>
              </a:rPr>
              <a:t>Questions from your own notes in seconds, plus a weak-spot report per concept.</a:t>
            </a:r>
            <a:endParaRPr lang="en-US" sz="1150" dirty="0"/>
          </a:p>
        </p:txBody>
      </p:sp>
      <p:sp>
        <p:nvSpPr>
          <p:cNvPr id="39" name="Shape 33"/>
          <p:cNvSpPr/>
          <p:nvPr/>
        </p:nvSpPr>
        <p:spPr>
          <a:xfrm>
            <a:off x="8613648" y="4736592"/>
            <a:ext cx="3029407" cy="1371600"/>
          </a:xfrm>
          <a:prstGeom prst="roundRect">
            <a:avLst>
              <a:gd name="adj" fmla="val 10667"/>
            </a:avLst>
          </a:prstGeom>
          <a:solidFill>
            <a:srgbClr val="FFFFFF"/>
          </a:solidFill>
          <a:ln/>
          <a:effectLst>
            <a:outerShdw sx="100000" sy="100000" kx="0" ky="0" algn="bl" rotWithShape="0" blurRad="127000" dist="38100" dir="5400000">
              <a:srgbClr val="2B2D42">
                <a:alpha val="14000"/>
              </a:srgbClr>
            </a:outerShdw>
          </a:effectLst>
        </p:spPr>
      </p:sp>
      <p:sp>
        <p:nvSpPr>
          <p:cNvPr id="40" name="Shape 34"/>
          <p:cNvSpPr/>
          <p:nvPr/>
        </p:nvSpPr>
        <p:spPr>
          <a:xfrm>
            <a:off x="8796528" y="4919472"/>
            <a:ext cx="420624" cy="420624"/>
          </a:xfrm>
          <a:prstGeom prst="ellipse">
            <a:avLst/>
          </a:prstGeom>
          <a:solidFill>
            <a:srgbClr val="DDF6E5"/>
          </a:solidFill>
          <a:ln/>
        </p:spPr>
      </p:sp>
      <p:pic>
        <p:nvPicPr>
          <p:cNvPr id="41" name="Image 4" descr="preencoded.png">    </p:cNvPr>
          <p:cNvPicPr>
            <a:picLocks noChangeAspect="1"/>
          </p:cNvPicPr>
          <p:nvPr/>
        </p:nvPicPr>
        <p:blipFill>
          <a:blip r:embed="rId5"/>
          <a:stretch>
            <a:fillRect/>
          </a:stretch>
        </p:blipFill>
        <p:spPr>
          <a:xfrm>
            <a:off x="8889065" y="5012009"/>
            <a:ext cx="235549" cy="235549"/>
          </a:xfrm>
          <a:prstGeom prst="rect">
            <a:avLst/>
          </a:prstGeom>
        </p:spPr>
      </p:pic>
      <p:sp>
        <p:nvSpPr>
          <p:cNvPr id="42" name="Text 35"/>
          <p:cNvSpPr txBox="1"/>
          <p:nvPr/>
        </p:nvSpPr>
        <p:spPr>
          <a:xfrm>
            <a:off x="9345168" y="4974336"/>
            <a:ext cx="2115007" cy="310896"/>
          </a:xfrm>
          <a:prstGeom prst="rect">
            <a:avLst/>
          </a:prstGeom>
          <a:noFill/>
          <a:ln/>
        </p:spPr>
        <p:txBody>
          <a:bodyPr wrap="square" lIns="0" tIns="0" rIns="0" bIns="0" rtlCol="0" anchor="ctr"/>
          <a:lstStyle/>
          <a:p>
            <a:pPr algn="l" indent="0" marL="0">
              <a:buNone/>
            </a:pPr>
            <a:r>
              <a:rPr lang="en-US" sz="1500" b="1" dirty="0">
                <a:solidFill>
                  <a:srgbClr val="2B2D42"/>
                </a:solidFill>
              </a:rPr>
              <a:t>Schools</a:t>
            </a:r>
            <a:endParaRPr lang="en-US" sz="1500" dirty="0"/>
          </a:p>
        </p:txBody>
      </p:sp>
      <p:sp>
        <p:nvSpPr>
          <p:cNvPr id="43" name="Text 36"/>
          <p:cNvSpPr txBox="1"/>
          <p:nvPr/>
        </p:nvSpPr>
        <p:spPr>
          <a:xfrm>
            <a:off x="8796528" y="5449824"/>
            <a:ext cx="2681935" cy="585216"/>
          </a:xfrm>
          <a:prstGeom prst="rect">
            <a:avLst/>
          </a:prstGeom>
          <a:noFill/>
          <a:ln/>
        </p:spPr>
        <p:txBody>
          <a:bodyPr wrap="square" lIns="0" tIns="0" rIns="0" bIns="0" rtlCol="0" anchor="t"/>
          <a:lstStyle/>
          <a:p>
            <a:pPr algn="l" indent="0" marL="0">
              <a:buNone/>
            </a:pPr>
            <a:r>
              <a:rPr lang="en-US" sz="1150" dirty="0">
                <a:solidFill>
                  <a:srgbClr val="5B5F80"/>
                </a:solidFill>
              </a:rPr>
              <a:t>No installs, runs on old laptops and phones; read-aloud, reduced motion, touch.</a:t>
            </a:r>
            <a:endParaRPr lang="en-US" sz="1150" dirty="0"/>
          </a:p>
        </p:txBody>
      </p:sp>
      <p:sp>
        <p:nvSpPr>
          <p:cNvPr id="25" name="Slide Number Placeholder 0"/>
          <p:cNvSpPr>
            <a:spLocks noGrp="1"/>
          </p:cNvSpPr>
          <p:nvPr>
            <p:ph type="sldNum" sz="quarter" idx="4294967295"/>
          </p:nvPr>
        </p:nvSpPr>
        <p:spPr>
          <a:xfrm>
            <a:off x="11183112" y="641908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84048"/>
            <a:ext cx="3405226" cy="292608"/>
          </a:xfrm>
          <a:prstGeom prst="roundRect">
            <a:avLst>
              <a:gd name="adj" fmla="val 50000"/>
            </a:avLst>
          </a:prstGeom>
          <a:solidFill>
            <a:srgbClr val="FF4FA0"/>
          </a:solidFill>
          <a:ln/>
        </p:spPr>
        <p:txBody>
          <a:bodyPr wrap="square" lIns="0" tIns="0" rIns="0" bIns="0" rtlCol="0" anchor="ctr"/>
          <a:lstStyle/>
          <a:p>
            <a:pPr algn="ctr" indent="0" marL="0">
              <a:buNone/>
            </a:pPr>
            <a:r>
              <a:rPr lang="en-US" sz="1050" b="1" spc="150" kern="0" dirty="0">
                <a:solidFill>
                  <a:srgbClr val="FFFFFF"/>
                </a:solidFill>
              </a:rPr>
              <a:t>06  ·  RESEARCH &amp; REFERENCES</a:t>
            </a:r>
            <a:endParaRPr lang="en-US" sz="1050" dirty="0"/>
          </a:p>
        </p:txBody>
      </p:sp>
      <p:sp>
        <p:nvSpPr>
          <p:cNvPr id="3" name="Text 0"/>
          <p:cNvSpPr/>
          <p:nvPr>
            <p:ph idx="100" type="title" hasCustomPrompt="1"/>
          </p:nvPr>
        </p:nvSpPr>
        <p:spPr>
          <a:xfrm>
            <a:off x="548640" y="731520"/>
            <a:ext cx="11064240" cy="713232"/>
          </a:xfrm>
          <a:prstGeom prst="rect">
            <a:avLst/>
          </a:prstGeom>
          <a:noFill/>
          <a:ln/>
        </p:spPr>
        <p:txBody>
          <a:bodyPr wrap="square" lIns="0" tIns="0" rIns="0" bIns="0" rtlCol="0" anchor="ctr"/>
          <a:lstStyle/>
          <a:p>
            <a:pPr algn="l" indent="0" marL="0">
              <a:buNone/>
            </a:pPr>
            <a:r>
              <a:rPr lang="en-US" sz="3400" dirty="0">
                <a:solidFill>
                  <a:schemeClr val="tx1"/>
                </a:solidFill>
                <a:latin typeface="Titan One" pitchFamily="34" charset="0"/>
                <a:ea typeface="Titan One" pitchFamily="34" charset="-122"/>
                <a:cs typeface="Titan One" pitchFamily="34" charset="-120"/>
              </a:rPr>
              <a:t>Grounded in learning science</a:t>
            </a:r>
            <a:endParaRPr lang="en-US" sz="3400" dirty="0"/>
          </a:p>
        </p:txBody>
      </p:sp>
      <p:sp>
        <p:nvSpPr>
          <p:cNvPr id="4" name="Text 2"/>
          <p:cNvSpPr txBox="1"/>
          <p:nvPr/>
        </p:nvSpPr>
        <p:spPr>
          <a:xfrm>
            <a:off x="548640" y="1627632"/>
            <a:ext cx="3108960" cy="201168"/>
          </a:xfrm>
          <a:prstGeom prst="rect">
            <a:avLst/>
          </a:prstGeom>
          <a:noFill/>
          <a:ln/>
        </p:spPr>
        <p:txBody>
          <a:bodyPr wrap="square" lIns="0" tIns="0" rIns="0" bIns="0" rtlCol="0" anchor="t"/>
          <a:lstStyle/>
          <a:p>
            <a:pPr algn="l" indent="0" marL="0">
              <a:buNone/>
            </a:pPr>
            <a:r>
              <a:rPr lang="en-US" sz="1000" b="1" spc="150" kern="0" dirty="0">
                <a:solidFill>
                  <a:srgbClr val="5B5F80"/>
                </a:solidFill>
              </a:rPr>
              <a:t>RESEARCH SAYS</a:t>
            </a:r>
            <a:endParaRPr lang="en-US" sz="1000" dirty="0"/>
          </a:p>
        </p:txBody>
      </p:sp>
      <p:sp>
        <p:nvSpPr>
          <p:cNvPr id="5" name="Text 3"/>
          <p:cNvSpPr txBox="1"/>
          <p:nvPr/>
        </p:nvSpPr>
        <p:spPr>
          <a:xfrm>
            <a:off x="4114800" y="1627632"/>
            <a:ext cx="3291840" cy="201168"/>
          </a:xfrm>
          <a:prstGeom prst="rect">
            <a:avLst/>
          </a:prstGeom>
          <a:noFill/>
          <a:ln/>
        </p:spPr>
        <p:txBody>
          <a:bodyPr wrap="square" lIns="0" tIns="0" rIns="0" bIns="0" rtlCol="0" anchor="t"/>
          <a:lstStyle/>
          <a:p>
            <a:pPr algn="l" indent="0" marL="0">
              <a:buNone/>
            </a:pPr>
            <a:r>
              <a:rPr lang="en-US" sz="1000" b="1" spc="150" kern="0" dirty="0">
                <a:solidFill>
                  <a:srgbClr val="5B5F80"/>
                </a:solidFill>
              </a:rPr>
              <a:t>SO THE GAME DOES</a:t>
            </a:r>
            <a:endParaRPr lang="en-US" sz="1000" dirty="0"/>
          </a:p>
        </p:txBody>
      </p:sp>
      <p:sp>
        <p:nvSpPr>
          <p:cNvPr id="6" name="Shape 4"/>
          <p:cNvSpPr/>
          <p:nvPr/>
        </p:nvSpPr>
        <p:spPr>
          <a:xfrm>
            <a:off x="548640" y="1920240"/>
            <a:ext cx="3108960" cy="603504"/>
          </a:xfrm>
          <a:prstGeom prst="roundRect">
            <a:avLst>
              <a:gd name="adj" fmla="val 18182"/>
            </a:avLst>
          </a:prstGeom>
          <a:solidFill>
            <a:srgbClr val="DDF2FF"/>
          </a:solidFill>
          <a:ln/>
        </p:spPr>
      </p:sp>
      <p:sp>
        <p:nvSpPr>
          <p:cNvPr id="7" name="Text 5"/>
          <p:cNvSpPr txBox="1"/>
          <p:nvPr/>
        </p:nvSpPr>
        <p:spPr>
          <a:xfrm>
            <a:off x="694944" y="1993392"/>
            <a:ext cx="2834640" cy="237744"/>
          </a:xfrm>
          <a:prstGeom prst="rect">
            <a:avLst/>
          </a:prstGeom>
          <a:noFill/>
          <a:ln/>
        </p:spPr>
        <p:txBody>
          <a:bodyPr wrap="square" lIns="0" tIns="0" rIns="0" bIns="0" rtlCol="0" anchor="t"/>
          <a:lstStyle/>
          <a:p>
            <a:pPr algn="l" indent="0" marL="0">
              <a:buNone/>
            </a:pPr>
            <a:r>
              <a:rPr lang="en-US" sz="1250" b="1" dirty="0">
                <a:solidFill>
                  <a:srgbClr val="2B2D42"/>
                </a:solidFill>
              </a:rPr>
              <a:t>Testing effect</a:t>
            </a:r>
            <a:endParaRPr lang="en-US" sz="1250" dirty="0"/>
          </a:p>
        </p:txBody>
      </p:sp>
      <p:sp>
        <p:nvSpPr>
          <p:cNvPr id="8" name="Text 6"/>
          <p:cNvSpPr txBox="1"/>
          <p:nvPr/>
        </p:nvSpPr>
        <p:spPr>
          <a:xfrm>
            <a:off x="694944" y="2240280"/>
            <a:ext cx="2834640" cy="219456"/>
          </a:xfrm>
          <a:prstGeom prst="rect">
            <a:avLst/>
          </a:prstGeom>
          <a:noFill/>
          <a:ln/>
        </p:spPr>
        <p:txBody>
          <a:bodyPr wrap="square" lIns="0" tIns="0" rIns="0" bIns="0" rtlCol="0" anchor="t"/>
          <a:lstStyle/>
          <a:p>
            <a:pPr algn="l" indent="0" marL="0">
              <a:buNone/>
            </a:pPr>
            <a:r>
              <a:rPr lang="en-US" sz="1000" i="1" dirty="0">
                <a:solidFill>
                  <a:srgbClr val="5B5F80"/>
                </a:solidFill>
              </a:rPr>
              <a:t>Roediger &amp; Karpicke, 2006</a:t>
            </a:r>
            <a:endParaRPr lang="en-US" sz="1000" dirty="0"/>
          </a:p>
        </p:txBody>
      </p:sp>
      <p:sp>
        <p:nvSpPr>
          <p:cNvPr id="9" name="Shape 7"/>
          <p:cNvSpPr/>
          <p:nvPr/>
        </p:nvSpPr>
        <p:spPr>
          <a:xfrm>
            <a:off x="3712464" y="2221992"/>
            <a:ext cx="347472" cy="914"/>
          </a:xfrm>
          <a:prstGeom prst="line">
            <a:avLst/>
          </a:prstGeom>
          <a:noFill/>
          <a:ln w="25400">
            <a:solidFill>
              <a:srgbClr val="6EC6FF"/>
            </a:solidFill>
            <a:prstDash val="solid"/>
            <a:tailEnd type="triangle"/>
          </a:ln>
        </p:spPr>
      </p:sp>
      <p:sp>
        <p:nvSpPr>
          <p:cNvPr id="10" name="Shape 8"/>
          <p:cNvSpPr/>
          <p:nvPr/>
        </p:nvSpPr>
        <p:spPr>
          <a:xfrm>
            <a:off x="4114800" y="1920240"/>
            <a:ext cx="3429000" cy="603504"/>
          </a:xfrm>
          <a:prstGeom prst="roundRect">
            <a:avLst>
              <a:gd name="adj" fmla="val 18182"/>
            </a:avLst>
          </a:prstGeom>
          <a:solidFill>
            <a:srgbClr val="FFFFFF"/>
          </a:solidFill>
          <a:ln/>
          <a:effectLst>
            <a:outerShdw sx="100000" sy="100000" kx="0" ky="0" algn="bl" rotWithShape="0" blurRad="127000" dist="38100" dir="5400000">
              <a:srgbClr val="2B2D42">
                <a:alpha val="14000"/>
              </a:srgbClr>
            </a:outerShdw>
          </a:effectLst>
        </p:spPr>
      </p:sp>
      <p:sp>
        <p:nvSpPr>
          <p:cNvPr id="11" name="Text 9"/>
          <p:cNvSpPr txBox="1"/>
          <p:nvPr/>
        </p:nvSpPr>
        <p:spPr>
          <a:xfrm>
            <a:off x="4261104" y="1920240"/>
            <a:ext cx="3182112" cy="603504"/>
          </a:xfrm>
          <a:prstGeom prst="rect">
            <a:avLst/>
          </a:prstGeom>
          <a:noFill/>
          <a:ln/>
        </p:spPr>
        <p:txBody>
          <a:bodyPr wrap="square" lIns="0" tIns="0" rIns="0" bIns="0" rtlCol="0" anchor="ctr"/>
          <a:lstStyle/>
          <a:p>
            <a:pPr algn="l" indent="0" marL="0">
              <a:buNone/>
            </a:pPr>
            <a:r>
              <a:rPr lang="en-US" sz="1200" dirty="0">
                <a:solidFill>
                  <a:srgbClr val="2B2D42"/>
                </a:solidFill>
              </a:rPr>
              <a:t>Every room is a retrieval attempt, answered by moving</a:t>
            </a:r>
            <a:endParaRPr lang="en-US" sz="1200" dirty="0"/>
          </a:p>
        </p:txBody>
      </p:sp>
      <p:sp>
        <p:nvSpPr>
          <p:cNvPr id="12" name="Shape 10"/>
          <p:cNvSpPr/>
          <p:nvPr/>
        </p:nvSpPr>
        <p:spPr>
          <a:xfrm>
            <a:off x="548640" y="2642616"/>
            <a:ext cx="3108960" cy="603504"/>
          </a:xfrm>
          <a:prstGeom prst="roundRect">
            <a:avLst>
              <a:gd name="adj" fmla="val 18182"/>
            </a:avLst>
          </a:prstGeom>
          <a:solidFill>
            <a:srgbClr val="FFF3CF"/>
          </a:solidFill>
          <a:ln/>
        </p:spPr>
      </p:sp>
      <p:sp>
        <p:nvSpPr>
          <p:cNvPr id="13" name="Text 11"/>
          <p:cNvSpPr txBox="1"/>
          <p:nvPr/>
        </p:nvSpPr>
        <p:spPr>
          <a:xfrm>
            <a:off x="694944" y="2715768"/>
            <a:ext cx="2834640" cy="237744"/>
          </a:xfrm>
          <a:prstGeom prst="rect">
            <a:avLst/>
          </a:prstGeom>
          <a:noFill/>
          <a:ln/>
        </p:spPr>
        <p:txBody>
          <a:bodyPr wrap="square" lIns="0" tIns="0" rIns="0" bIns="0" rtlCol="0" anchor="t"/>
          <a:lstStyle/>
          <a:p>
            <a:pPr algn="l" indent="0" marL="0">
              <a:buNone/>
            </a:pPr>
            <a:r>
              <a:rPr lang="en-US" sz="1250" b="1" dirty="0">
                <a:solidFill>
                  <a:srgbClr val="2B2D42"/>
                </a:solidFill>
              </a:rPr>
              <a:t>Feedback</a:t>
            </a:r>
            <a:endParaRPr lang="en-US" sz="1250" dirty="0"/>
          </a:p>
        </p:txBody>
      </p:sp>
      <p:sp>
        <p:nvSpPr>
          <p:cNvPr id="14" name="Text 12"/>
          <p:cNvSpPr txBox="1"/>
          <p:nvPr/>
        </p:nvSpPr>
        <p:spPr>
          <a:xfrm>
            <a:off x="694944" y="2962656"/>
            <a:ext cx="2834640" cy="219456"/>
          </a:xfrm>
          <a:prstGeom prst="rect">
            <a:avLst/>
          </a:prstGeom>
          <a:noFill/>
          <a:ln/>
        </p:spPr>
        <p:txBody>
          <a:bodyPr wrap="square" lIns="0" tIns="0" rIns="0" bIns="0" rtlCol="0" anchor="t"/>
          <a:lstStyle/>
          <a:p>
            <a:pPr algn="l" indent="0" marL="0">
              <a:buNone/>
            </a:pPr>
            <a:r>
              <a:rPr lang="en-US" sz="1000" i="1" dirty="0">
                <a:solidFill>
                  <a:srgbClr val="5B5F80"/>
                </a:solidFill>
              </a:rPr>
              <a:t>Hattie &amp; Timperley, 2007</a:t>
            </a:r>
            <a:endParaRPr lang="en-US" sz="1000" dirty="0"/>
          </a:p>
        </p:txBody>
      </p:sp>
      <p:sp>
        <p:nvSpPr>
          <p:cNvPr id="15" name="Shape 13"/>
          <p:cNvSpPr/>
          <p:nvPr/>
        </p:nvSpPr>
        <p:spPr>
          <a:xfrm>
            <a:off x="3712464" y="2944368"/>
            <a:ext cx="347472" cy="914"/>
          </a:xfrm>
          <a:prstGeom prst="line">
            <a:avLst/>
          </a:prstGeom>
          <a:noFill/>
          <a:ln w="25400">
            <a:solidFill>
              <a:srgbClr val="E8B21E"/>
            </a:solidFill>
            <a:prstDash val="solid"/>
            <a:tailEnd type="triangle"/>
          </a:ln>
        </p:spPr>
      </p:sp>
      <p:sp>
        <p:nvSpPr>
          <p:cNvPr id="16" name="Shape 14"/>
          <p:cNvSpPr/>
          <p:nvPr/>
        </p:nvSpPr>
        <p:spPr>
          <a:xfrm>
            <a:off x="4114800" y="2642616"/>
            <a:ext cx="3429000" cy="603504"/>
          </a:xfrm>
          <a:prstGeom prst="roundRect">
            <a:avLst>
              <a:gd name="adj" fmla="val 18182"/>
            </a:avLst>
          </a:prstGeom>
          <a:solidFill>
            <a:srgbClr val="FFFFFF"/>
          </a:solidFill>
          <a:ln/>
          <a:effectLst>
            <a:outerShdw sx="100000" sy="100000" kx="0" ky="0" algn="bl" rotWithShape="0" blurRad="127000" dist="38100" dir="5400000">
              <a:srgbClr val="2B2D42">
                <a:alpha val="14000"/>
              </a:srgbClr>
            </a:outerShdw>
          </a:effectLst>
        </p:spPr>
      </p:sp>
      <p:sp>
        <p:nvSpPr>
          <p:cNvPr id="17" name="Text 15"/>
          <p:cNvSpPr txBox="1"/>
          <p:nvPr/>
        </p:nvSpPr>
        <p:spPr>
          <a:xfrm>
            <a:off x="4261104" y="2642616"/>
            <a:ext cx="3182112" cy="603504"/>
          </a:xfrm>
          <a:prstGeom prst="rect">
            <a:avLst/>
          </a:prstGeom>
          <a:noFill/>
          <a:ln/>
        </p:spPr>
        <p:txBody>
          <a:bodyPr wrap="square" lIns="0" tIns="0" rIns="0" bIns="0" rtlCol="0" anchor="ctr"/>
          <a:lstStyle/>
          <a:p>
            <a:pPr algn="l" indent="0" marL="0">
              <a:buNone/>
            </a:pPr>
            <a:r>
              <a:rPr lang="en-US" sz="1200" dirty="0">
                <a:solidFill>
                  <a:srgbClr val="2B2D42"/>
                </a:solidFill>
              </a:rPr>
              <a:t>Instant ✓ or ✗ on the door, tile or step you chose</a:t>
            </a:r>
            <a:endParaRPr lang="en-US" sz="1200" dirty="0"/>
          </a:p>
        </p:txBody>
      </p:sp>
      <p:sp>
        <p:nvSpPr>
          <p:cNvPr id="18" name="Shape 16"/>
          <p:cNvSpPr/>
          <p:nvPr/>
        </p:nvSpPr>
        <p:spPr>
          <a:xfrm>
            <a:off x="548640" y="3364992"/>
            <a:ext cx="3108960" cy="603504"/>
          </a:xfrm>
          <a:prstGeom prst="roundRect">
            <a:avLst>
              <a:gd name="adj" fmla="val 18182"/>
            </a:avLst>
          </a:prstGeom>
          <a:solidFill>
            <a:srgbClr val="FFE3F0"/>
          </a:solidFill>
          <a:ln/>
        </p:spPr>
      </p:sp>
      <p:sp>
        <p:nvSpPr>
          <p:cNvPr id="19" name="Text 17"/>
          <p:cNvSpPr txBox="1"/>
          <p:nvPr/>
        </p:nvSpPr>
        <p:spPr>
          <a:xfrm>
            <a:off x="694944" y="3438144"/>
            <a:ext cx="2834640" cy="237744"/>
          </a:xfrm>
          <a:prstGeom prst="rect">
            <a:avLst/>
          </a:prstGeom>
          <a:noFill/>
          <a:ln/>
        </p:spPr>
        <p:txBody>
          <a:bodyPr wrap="square" lIns="0" tIns="0" rIns="0" bIns="0" rtlCol="0" anchor="t"/>
          <a:lstStyle/>
          <a:p>
            <a:pPr algn="l" indent="0" marL="0">
              <a:buNone/>
            </a:pPr>
            <a:r>
              <a:rPr lang="en-US" sz="1250" b="1" dirty="0">
                <a:solidFill>
                  <a:srgbClr val="2B2D42"/>
                </a:solidFill>
              </a:rPr>
              <a:t>Learning from errors</a:t>
            </a:r>
            <a:endParaRPr lang="en-US" sz="1250" dirty="0"/>
          </a:p>
        </p:txBody>
      </p:sp>
      <p:sp>
        <p:nvSpPr>
          <p:cNvPr id="20" name="Text 18"/>
          <p:cNvSpPr txBox="1"/>
          <p:nvPr/>
        </p:nvSpPr>
        <p:spPr>
          <a:xfrm>
            <a:off x="694944" y="3685032"/>
            <a:ext cx="2834640" cy="219456"/>
          </a:xfrm>
          <a:prstGeom prst="rect">
            <a:avLst/>
          </a:prstGeom>
          <a:noFill/>
          <a:ln/>
        </p:spPr>
        <p:txBody>
          <a:bodyPr wrap="square" lIns="0" tIns="0" rIns="0" bIns="0" rtlCol="0" anchor="t"/>
          <a:lstStyle/>
          <a:p>
            <a:pPr algn="l" indent="0" marL="0">
              <a:buNone/>
            </a:pPr>
            <a:r>
              <a:rPr lang="en-US" sz="1000" i="1" dirty="0">
                <a:solidFill>
                  <a:srgbClr val="5B5F80"/>
                </a:solidFill>
              </a:rPr>
              <a:t>Metcalfe, 2017</a:t>
            </a:r>
            <a:endParaRPr lang="en-US" sz="1000" dirty="0"/>
          </a:p>
        </p:txBody>
      </p:sp>
      <p:sp>
        <p:nvSpPr>
          <p:cNvPr id="21" name="Shape 19"/>
          <p:cNvSpPr/>
          <p:nvPr/>
        </p:nvSpPr>
        <p:spPr>
          <a:xfrm>
            <a:off x="3712464" y="3666744"/>
            <a:ext cx="347472" cy="914"/>
          </a:xfrm>
          <a:prstGeom prst="line">
            <a:avLst/>
          </a:prstGeom>
          <a:noFill/>
          <a:ln w="25400">
            <a:solidFill>
              <a:srgbClr val="FF4FA0"/>
            </a:solidFill>
            <a:prstDash val="solid"/>
            <a:tailEnd type="triangle"/>
          </a:ln>
        </p:spPr>
      </p:sp>
      <p:sp>
        <p:nvSpPr>
          <p:cNvPr id="22" name="Shape 20"/>
          <p:cNvSpPr/>
          <p:nvPr/>
        </p:nvSpPr>
        <p:spPr>
          <a:xfrm>
            <a:off x="4114800" y="3364992"/>
            <a:ext cx="3429000" cy="603504"/>
          </a:xfrm>
          <a:prstGeom prst="roundRect">
            <a:avLst>
              <a:gd name="adj" fmla="val 18182"/>
            </a:avLst>
          </a:prstGeom>
          <a:solidFill>
            <a:srgbClr val="FFFFFF"/>
          </a:solidFill>
          <a:ln/>
          <a:effectLst>
            <a:outerShdw sx="100000" sy="100000" kx="0" ky="0" algn="bl" rotWithShape="0" blurRad="127000" dist="38100" dir="5400000">
              <a:srgbClr val="2B2D42">
                <a:alpha val="14000"/>
              </a:srgbClr>
            </a:outerShdw>
          </a:effectLst>
        </p:spPr>
      </p:sp>
      <p:sp>
        <p:nvSpPr>
          <p:cNvPr id="23" name="Text 21"/>
          <p:cNvSpPr txBox="1"/>
          <p:nvPr/>
        </p:nvSpPr>
        <p:spPr>
          <a:xfrm>
            <a:off x="4261104" y="3364992"/>
            <a:ext cx="3182112" cy="603504"/>
          </a:xfrm>
          <a:prstGeom prst="rect">
            <a:avLst/>
          </a:prstGeom>
          <a:noFill/>
          <a:ln/>
        </p:spPr>
        <p:txBody>
          <a:bodyPr wrap="square" lIns="0" tIns="0" rIns="0" bIns="0" rtlCol="0" anchor="ctr"/>
          <a:lstStyle/>
          <a:p>
            <a:pPr algn="l" indent="0" marL="0">
              <a:buNone/>
            </a:pPr>
            <a:r>
              <a:rPr lang="en-US" sz="1200" dirty="0">
                <a:solidFill>
                  <a:srgbClr val="2B2D42"/>
                </a:solidFill>
              </a:rPr>
              <a:t>A wrong answer opens a detour: answer, why, worked example, retry</a:t>
            </a:r>
            <a:endParaRPr lang="en-US" sz="1200" dirty="0"/>
          </a:p>
        </p:txBody>
      </p:sp>
      <p:sp>
        <p:nvSpPr>
          <p:cNvPr id="24" name="Shape 22"/>
          <p:cNvSpPr/>
          <p:nvPr/>
        </p:nvSpPr>
        <p:spPr>
          <a:xfrm>
            <a:off x="548640" y="4087368"/>
            <a:ext cx="3108960" cy="603504"/>
          </a:xfrm>
          <a:prstGeom prst="roundRect">
            <a:avLst>
              <a:gd name="adj" fmla="val 18182"/>
            </a:avLst>
          </a:prstGeom>
          <a:solidFill>
            <a:srgbClr val="EAE2FF"/>
          </a:solidFill>
          <a:ln/>
        </p:spPr>
      </p:sp>
      <p:sp>
        <p:nvSpPr>
          <p:cNvPr id="25" name="Text 23"/>
          <p:cNvSpPr txBox="1"/>
          <p:nvPr/>
        </p:nvSpPr>
        <p:spPr>
          <a:xfrm>
            <a:off x="694944" y="4160520"/>
            <a:ext cx="2834640" cy="237744"/>
          </a:xfrm>
          <a:prstGeom prst="rect">
            <a:avLst/>
          </a:prstGeom>
          <a:noFill/>
          <a:ln/>
        </p:spPr>
        <p:txBody>
          <a:bodyPr wrap="square" lIns="0" tIns="0" rIns="0" bIns="0" rtlCol="0" anchor="t"/>
          <a:lstStyle/>
          <a:p>
            <a:pPr algn="l" indent="0" marL="0">
              <a:buNone/>
            </a:pPr>
            <a:r>
              <a:rPr lang="en-US" sz="1250" b="1" dirty="0">
                <a:solidFill>
                  <a:srgbClr val="2B2D42"/>
                </a:solidFill>
              </a:rPr>
              <a:t>Desirable difficulty &amp; flow</a:t>
            </a:r>
            <a:endParaRPr lang="en-US" sz="1250" dirty="0"/>
          </a:p>
        </p:txBody>
      </p:sp>
      <p:sp>
        <p:nvSpPr>
          <p:cNvPr id="26" name="Text 24"/>
          <p:cNvSpPr txBox="1"/>
          <p:nvPr/>
        </p:nvSpPr>
        <p:spPr>
          <a:xfrm>
            <a:off x="694944" y="4407408"/>
            <a:ext cx="2834640" cy="219456"/>
          </a:xfrm>
          <a:prstGeom prst="rect">
            <a:avLst/>
          </a:prstGeom>
          <a:noFill/>
          <a:ln/>
        </p:spPr>
        <p:txBody>
          <a:bodyPr wrap="square" lIns="0" tIns="0" rIns="0" bIns="0" rtlCol="0" anchor="t"/>
          <a:lstStyle/>
          <a:p>
            <a:pPr algn="l" indent="0" marL="0">
              <a:buNone/>
            </a:pPr>
            <a:r>
              <a:rPr lang="en-US" sz="1000" i="1" dirty="0">
                <a:solidFill>
                  <a:srgbClr val="5B5F80"/>
                </a:solidFill>
              </a:rPr>
              <a:t>Bjork &amp; Bjork, 2011; Csikszentmihalyi, 1990</a:t>
            </a:r>
            <a:endParaRPr lang="en-US" sz="1000" dirty="0"/>
          </a:p>
        </p:txBody>
      </p:sp>
      <p:sp>
        <p:nvSpPr>
          <p:cNvPr id="27" name="Shape 25"/>
          <p:cNvSpPr/>
          <p:nvPr/>
        </p:nvSpPr>
        <p:spPr>
          <a:xfrm>
            <a:off x="3712464" y="4389120"/>
            <a:ext cx="347472" cy="914"/>
          </a:xfrm>
          <a:prstGeom prst="line">
            <a:avLst/>
          </a:prstGeom>
          <a:noFill/>
          <a:ln w="25400">
            <a:solidFill>
              <a:srgbClr val="7A4DFF"/>
            </a:solidFill>
            <a:prstDash val="solid"/>
            <a:tailEnd type="triangle"/>
          </a:ln>
        </p:spPr>
      </p:sp>
      <p:sp>
        <p:nvSpPr>
          <p:cNvPr id="28" name="Shape 26"/>
          <p:cNvSpPr/>
          <p:nvPr/>
        </p:nvSpPr>
        <p:spPr>
          <a:xfrm>
            <a:off x="4114800" y="4087368"/>
            <a:ext cx="3429000" cy="603504"/>
          </a:xfrm>
          <a:prstGeom prst="roundRect">
            <a:avLst>
              <a:gd name="adj" fmla="val 18182"/>
            </a:avLst>
          </a:prstGeom>
          <a:solidFill>
            <a:srgbClr val="FFFFFF"/>
          </a:solidFill>
          <a:ln/>
          <a:effectLst>
            <a:outerShdw sx="100000" sy="100000" kx="0" ky="0" algn="bl" rotWithShape="0" blurRad="127000" dist="38100" dir="5400000">
              <a:srgbClr val="2B2D42">
                <a:alpha val="14000"/>
              </a:srgbClr>
            </a:outerShdw>
          </a:effectLst>
        </p:spPr>
      </p:sp>
      <p:sp>
        <p:nvSpPr>
          <p:cNvPr id="29" name="Text 27"/>
          <p:cNvSpPr txBox="1"/>
          <p:nvPr/>
        </p:nvSpPr>
        <p:spPr>
          <a:xfrm>
            <a:off x="4261104" y="4087368"/>
            <a:ext cx="3182112" cy="603504"/>
          </a:xfrm>
          <a:prstGeom prst="rect">
            <a:avLst/>
          </a:prstGeom>
          <a:noFill/>
          <a:ln/>
        </p:spPr>
        <p:txBody>
          <a:bodyPr wrap="square" lIns="0" tIns="0" rIns="0" bIns="0" rtlCol="0" anchor="ctr"/>
          <a:lstStyle/>
          <a:p>
            <a:pPr algn="l" indent="0" marL="0">
              <a:buNone/>
            </a:pPr>
            <a:r>
              <a:rPr lang="en-US" sz="1200" dirty="0">
                <a:solidFill>
                  <a:srgbClr val="2B2D42"/>
                </a:solidFill>
              </a:rPr>
              <a:t>The adaptive tier keeps the challenge just above skill</a:t>
            </a:r>
            <a:endParaRPr lang="en-US" sz="1200" dirty="0"/>
          </a:p>
        </p:txBody>
      </p:sp>
      <p:sp>
        <p:nvSpPr>
          <p:cNvPr id="30" name="Shape 28"/>
          <p:cNvSpPr/>
          <p:nvPr/>
        </p:nvSpPr>
        <p:spPr>
          <a:xfrm>
            <a:off x="548640" y="4809744"/>
            <a:ext cx="3108960" cy="603504"/>
          </a:xfrm>
          <a:prstGeom prst="roundRect">
            <a:avLst>
              <a:gd name="adj" fmla="val 18182"/>
            </a:avLst>
          </a:prstGeom>
          <a:solidFill>
            <a:srgbClr val="DDF6E5"/>
          </a:solidFill>
          <a:ln/>
        </p:spPr>
      </p:sp>
      <p:sp>
        <p:nvSpPr>
          <p:cNvPr id="31" name="Text 29"/>
          <p:cNvSpPr txBox="1"/>
          <p:nvPr/>
        </p:nvSpPr>
        <p:spPr>
          <a:xfrm>
            <a:off x="694944" y="4882896"/>
            <a:ext cx="2834640" cy="237744"/>
          </a:xfrm>
          <a:prstGeom prst="rect">
            <a:avLst/>
          </a:prstGeom>
          <a:noFill/>
          <a:ln/>
        </p:spPr>
        <p:txBody>
          <a:bodyPr wrap="square" lIns="0" tIns="0" rIns="0" bIns="0" rtlCol="0" anchor="t"/>
          <a:lstStyle/>
          <a:p>
            <a:pPr algn="l" indent="0" marL="0">
              <a:buNone/>
            </a:pPr>
            <a:r>
              <a:rPr lang="en-US" sz="1250" b="1" dirty="0">
                <a:solidFill>
                  <a:srgbClr val="2B2D42"/>
                </a:solidFill>
              </a:rPr>
              <a:t>Spacing</a:t>
            </a:r>
            <a:endParaRPr lang="en-US" sz="1250" dirty="0"/>
          </a:p>
        </p:txBody>
      </p:sp>
      <p:sp>
        <p:nvSpPr>
          <p:cNvPr id="32" name="Text 30"/>
          <p:cNvSpPr txBox="1"/>
          <p:nvPr/>
        </p:nvSpPr>
        <p:spPr>
          <a:xfrm>
            <a:off x="694944" y="5129784"/>
            <a:ext cx="2834640" cy="219456"/>
          </a:xfrm>
          <a:prstGeom prst="rect">
            <a:avLst/>
          </a:prstGeom>
          <a:noFill/>
          <a:ln/>
        </p:spPr>
        <p:txBody>
          <a:bodyPr wrap="square" lIns="0" tIns="0" rIns="0" bIns="0" rtlCol="0" anchor="t"/>
          <a:lstStyle/>
          <a:p>
            <a:pPr algn="l" indent="0" marL="0">
              <a:buNone/>
            </a:pPr>
            <a:r>
              <a:rPr lang="en-US" sz="1000" i="1" dirty="0">
                <a:solidFill>
                  <a:srgbClr val="5B5F80"/>
                </a:solidFill>
              </a:rPr>
              <a:t>Cepeda et al., 2006</a:t>
            </a:r>
            <a:endParaRPr lang="en-US" sz="1000" dirty="0"/>
          </a:p>
        </p:txBody>
      </p:sp>
      <p:sp>
        <p:nvSpPr>
          <p:cNvPr id="33" name="Shape 31"/>
          <p:cNvSpPr/>
          <p:nvPr/>
        </p:nvSpPr>
        <p:spPr>
          <a:xfrm>
            <a:off x="3712464" y="5111496"/>
            <a:ext cx="347472" cy="914"/>
          </a:xfrm>
          <a:prstGeom prst="line">
            <a:avLst/>
          </a:prstGeom>
          <a:noFill/>
          <a:ln w="25400">
            <a:solidFill>
              <a:srgbClr val="3DBE6A"/>
            </a:solidFill>
            <a:prstDash val="solid"/>
            <a:tailEnd type="triangle"/>
          </a:ln>
        </p:spPr>
      </p:sp>
      <p:sp>
        <p:nvSpPr>
          <p:cNvPr id="34" name="Shape 32"/>
          <p:cNvSpPr/>
          <p:nvPr/>
        </p:nvSpPr>
        <p:spPr>
          <a:xfrm>
            <a:off x="4114800" y="4809744"/>
            <a:ext cx="3429000" cy="603504"/>
          </a:xfrm>
          <a:prstGeom prst="roundRect">
            <a:avLst>
              <a:gd name="adj" fmla="val 18182"/>
            </a:avLst>
          </a:prstGeom>
          <a:solidFill>
            <a:srgbClr val="FFFFFF"/>
          </a:solidFill>
          <a:ln/>
          <a:effectLst>
            <a:outerShdw sx="100000" sy="100000" kx="0" ky="0" algn="bl" rotWithShape="0" blurRad="127000" dist="38100" dir="5400000">
              <a:srgbClr val="2B2D42">
                <a:alpha val="14000"/>
              </a:srgbClr>
            </a:outerShdw>
          </a:effectLst>
        </p:spPr>
      </p:sp>
      <p:sp>
        <p:nvSpPr>
          <p:cNvPr id="35" name="Text 33"/>
          <p:cNvSpPr txBox="1"/>
          <p:nvPr/>
        </p:nvSpPr>
        <p:spPr>
          <a:xfrm>
            <a:off x="4261104" y="4809744"/>
            <a:ext cx="3182112" cy="603504"/>
          </a:xfrm>
          <a:prstGeom prst="rect">
            <a:avLst/>
          </a:prstGeom>
          <a:noFill/>
          <a:ln/>
        </p:spPr>
        <p:txBody>
          <a:bodyPr wrap="square" lIns="0" tIns="0" rIns="0" bIns="0" rtlCol="0" anchor="ctr"/>
          <a:lstStyle/>
          <a:p>
            <a:pPr algn="l" indent="0" marL="0">
              <a:buNone/>
            </a:pPr>
            <a:r>
              <a:rPr lang="en-US" sz="1200" dirty="0">
                <a:solidFill>
                  <a:srgbClr val="2B2D42"/>
                </a:solidFill>
              </a:rPr>
              <a:t>Weak-spot runs bring missed concepts back later</a:t>
            </a:r>
            <a:endParaRPr lang="en-US" sz="1200" dirty="0"/>
          </a:p>
        </p:txBody>
      </p:sp>
      <p:sp>
        <p:nvSpPr>
          <p:cNvPr id="36" name="Shape 34"/>
          <p:cNvSpPr/>
          <p:nvPr/>
        </p:nvSpPr>
        <p:spPr>
          <a:xfrm>
            <a:off x="548640" y="5532120"/>
            <a:ext cx="3108960" cy="603504"/>
          </a:xfrm>
          <a:prstGeom prst="roundRect">
            <a:avLst>
              <a:gd name="adj" fmla="val 18182"/>
            </a:avLst>
          </a:prstGeom>
          <a:solidFill>
            <a:srgbClr val="FFE8D8"/>
          </a:solidFill>
          <a:ln/>
        </p:spPr>
      </p:sp>
      <p:sp>
        <p:nvSpPr>
          <p:cNvPr id="37" name="Text 35"/>
          <p:cNvSpPr txBox="1"/>
          <p:nvPr/>
        </p:nvSpPr>
        <p:spPr>
          <a:xfrm>
            <a:off x="694944" y="5605272"/>
            <a:ext cx="2834640" cy="237744"/>
          </a:xfrm>
          <a:prstGeom prst="rect">
            <a:avLst/>
          </a:prstGeom>
          <a:noFill/>
          <a:ln/>
        </p:spPr>
        <p:txBody>
          <a:bodyPr wrap="square" lIns="0" tIns="0" rIns="0" bIns="0" rtlCol="0" anchor="t"/>
          <a:lstStyle/>
          <a:p>
            <a:pPr algn="l" indent="0" marL="0">
              <a:buNone/>
            </a:pPr>
            <a:r>
              <a:rPr lang="en-US" sz="1250" b="1" dirty="0">
                <a:solidFill>
                  <a:srgbClr val="2B2D42"/>
                </a:solidFill>
              </a:rPr>
              <a:t>Games that teach</a:t>
            </a:r>
            <a:endParaRPr lang="en-US" sz="1250" dirty="0"/>
          </a:p>
        </p:txBody>
      </p:sp>
      <p:sp>
        <p:nvSpPr>
          <p:cNvPr id="38" name="Text 36"/>
          <p:cNvSpPr txBox="1"/>
          <p:nvPr/>
        </p:nvSpPr>
        <p:spPr>
          <a:xfrm>
            <a:off x="694944" y="5852160"/>
            <a:ext cx="2834640" cy="219456"/>
          </a:xfrm>
          <a:prstGeom prst="rect">
            <a:avLst/>
          </a:prstGeom>
          <a:noFill/>
          <a:ln/>
        </p:spPr>
        <p:txBody>
          <a:bodyPr wrap="square" lIns="0" tIns="0" rIns="0" bIns="0" rtlCol="0" anchor="t"/>
          <a:lstStyle/>
          <a:p>
            <a:pPr algn="l" indent="0" marL="0">
              <a:buNone/>
            </a:pPr>
            <a:r>
              <a:rPr lang="en-US" sz="1000" i="1" dirty="0">
                <a:solidFill>
                  <a:srgbClr val="5B5F80"/>
                </a:solidFill>
              </a:rPr>
              <a:t>Wouters et al., 2013; Clark et al., 2016</a:t>
            </a:r>
            <a:endParaRPr lang="en-US" sz="1000" dirty="0"/>
          </a:p>
        </p:txBody>
      </p:sp>
      <p:sp>
        <p:nvSpPr>
          <p:cNvPr id="39" name="Shape 37"/>
          <p:cNvSpPr/>
          <p:nvPr/>
        </p:nvSpPr>
        <p:spPr>
          <a:xfrm>
            <a:off x="3712464" y="5833872"/>
            <a:ext cx="347472" cy="914"/>
          </a:xfrm>
          <a:prstGeom prst="line">
            <a:avLst/>
          </a:prstGeom>
          <a:noFill/>
          <a:ln w="25400">
            <a:solidFill>
              <a:srgbClr val="FF8A3D"/>
            </a:solidFill>
            <a:prstDash val="solid"/>
            <a:tailEnd type="triangle"/>
          </a:ln>
        </p:spPr>
      </p:sp>
      <p:sp>
        <p:nvSpPr>
          <p:cNvPr id="40" name="Shape 38"/>
          <p:cNvSpPr/>
          <p:nvPr/>
        </p:nvSpPr>
        <p:spPr>
          <a:xfrm>
            <a:off x="4114800" y="5532120"/>
            <a:ext cx="3429000" cy="603504"/>
          </a:xfrm>
          <a:prstGeom prst="roundRect">
            <a:avLst>
              <a:gd name="adj" fmla="val 18182"/>
            </a:avLst>
          </a:prstGeom>
          <a:solidFill>
            <a:srgbClr val="FFFFFF"/>
          </a:solidFill>
          <a:ln/>
          <a:effectLst>
            <a:outerShdw sx="100000" sy="100000" kx="0" ky="0" algn="bl" rotWithShape="0" blurRad="127000" dist="38100" dir="5400000">
              <a:srgbClr val="2B2D42">
                <a:alpha val="14000"/>
              </a:srgbClr>
            </a:outerShdw>
          </a:effectLst>
        </p:spPr>
      </p:sp>
      <p:sp>
        <p:nvSpPr>
          <p:cNvPr id="41" name="Text 39"/>
          <p:cNvSpPr txBox="1"/>
          <p:nvPr/>
        </p:nvSpPr>
        <p:spPr>
          <a:xfrm>
            <a:off x="4261104" y="5532120"/>
            <a:ext cx="3182112" cy="603504"/>
          </a:xfrm>
          <a:prstGeom prst="rect">
            <a:avLst/>
          </a:prstGeom>
          <a:noFill/>
          <a:ln/>
        </p:spPr>
        <p:txBody>
          <a:bodyPr wrap="square" lIns="0" tIns="0" rIns="0" bIns="0" rtlCol="0" anchor="ctr"/>
          <a:lstStyle/>
          <a:p>
            <a:pPr algn="l" indent="0" marL="0">
              <a:buNone/>
            </a:pPr>
            <a:r>
              <a:rPr lang="en-US" sz="1200" dirty="0">
                <a:solidFill>
                  <a:srgbClr val="2B2D42"/>
                </a:solidFill>
              </a:rPr>
              <a:t>The learning is the core mechanic, not a popup</a:t>
            </a:r>
            <a:endParaRPr lang="en-US" sz="1200" dirty="0"/>
          </a:p>
        </p:txBody>
      </p:sp>
      <p:sp>
        <p:nvSpPr>
          <p:cNvPr id="42" name="Shape 40"/>
          <p:cNvSpPr/>
          <p:nvPr/>
        </p:nvSpPr>
        <p:spPr>
          <a:xfrm>
            <a:off x="7863840" y="1627632"/>
            <a:ext cx="3779215" cy="4636008"/>
          </a:xfrm>
          <a:prstGeom prst="roundRect">
            <a:avLst>
              <a:gd name="adj" fmla="val 3871"/>
            </a:avLst>
          </a:prstGeom>
          <a:solidFill>
            <a:srgbClr val="FFFFFF"/>
          </a:solidFill>
          <a:ln/>
          <a:effectLst>
            <a:outerShdw sx="100000" sy="100000" kx="0" ky="0" algn="bl" rotWithShape="0" blurRad="127000" dist="38100" dir="5400000">
              <a:srgbClr val="2B2D42">
                <a:alpha val="14000"/>
              </a:srgbClr>
            </a:outerShdw>
          </a:effectLst>
        </p:spPr>
      </p:sp>
      <p:sp>
        <p:nvSpPr>
          <p:cNvPr id="43" name="Text 41"/>
          <p:cNvSpPr txBox="1"/>
          <p:nvPr/>
        </p:nvSpPr>
        <p:spPr>
          <a:xfrm>
            <a:off x="8065008" y="1783080"/>
            <a:ext cx="2743200" cy="201168"/>
          </a:xfrm>
          <a:prstGeom prst="rect">
            <a:avLst/>
          </a:prstGeom>
          <a:noFill/>
          <a:ln/>
        </p:spPr>
        <p:txBody>
          <a:bodyPr wrap="square" lIns="0" tIns="0" rIns="0" bIns="0" rtlCol="0" anchor="t"/>
          <a:lstStyle/>
          <a:p>
            <a:pPr algn="l" indent="0" marL="0">
              <a:buNone/>
            </a:pPr>
            <a:r>
              <a:rPr lang="en-US" sz="1000" b="1" spc="150" kern="0" dirty="0">
                <a:solidFill>
                  <a:srgbClr val="FF4FA0"/>
                </a:solidFill>
              </a:rPr>
              <a:t>REFERENCES</a:t>
            </a:r>
            <a:endParaRPr lang="en-US" sz="1000" dirty="0"/>
          </a:p>
        </p:txBody>
      </p:sp>
      <p:sp>
        <p:nvSpPr>
          <p:cNvPr id="44" name="Text 42"/>
          <p:cNvSpPr txBox="1"/>
          <p:nvPr/>
        </p:nvSpPr>
        <p:spPr>
          <a:xfrm>
            <a:off x="8046720" y="2057400"/>
            <a:ext cx="3450031" cy="4114800"/>
          </a:xfrm>
          <a:prstGeom prst="rect">
            <a:avLst/>
          </a:prstGeom>
          <a:noFill/>
          <a:ln/>
        </p:spPr>
        <p:txBody>
          <a:bodyPr wrap="square" lIns="0" tIns="0" rIns="0" bIns="0" rtlCol="0" anchor="t"/>
          <a:lstStyle/>
          <a:p>
            <a:pPr indent="0" marL="0">
              <a:spcAft>
                <a:spcPts val="400"/>
              </a:spcAft>
              <a:buNone/>
            </a:pPr>
            <a:r>
              <a:rPr lang="en-US" sz="1000" b="1" dirty="0">
                <a:solidFill>
                  <a:srgbClr val="FF4FA0"/>
                </a:solidFill>
              </a:rPr>
              <a:t>1  </a:t>
            </a:r>
            <a:pPr indent="0" marL="0">
              <a:spcAft>
                <a:spcPts val="400"/>
              </a:spcAft>
              <a:buNone/>
            </a:pPr>
            <a:r>
              <a:rPr lang="en-US" sz="1000" dirty="0">
                <a:solidFill>
                  <a:srgbClr val="2B2D42"/>
                </a:solidFill>
              </a:rPr>
              <a:t>Roediger &amp; Karpicke (2006). Test-enhanced learning. Psychological Science, 17(3).</a:t>
            </a:r>
            <a:endParaRPr lang="en-US" sz="1000" dirty="0"/>
          </a:p>
          <a:p>
            <a:pPr indent="0" marL="0">
              <a:spcAft>
                <a:spcPts val="400"/>
              </a:spcAft>
              <a:buNone/>
            </a:pPr>
            <a:r>
              <a:rPr lang="en-US" sz="1000" b="1" dirty="0">
                <a:solidFill>
                  <a:srgbClr val="FF4FA0"/>
                </a:solidFill>
              </a:rPr>
              <a:t>2  </a:t>
            </a:r>
            <a:pPr indent="0" marL="0">
              <a:spcAft>
                <a:spcPts val="400"/>
              </a:spcAft>
              <a:buNone/>
            </a:pPr>
            <a:r>
              <a:rPr lang="en-US" sz="1000" dirty="0">
                <a:solidFill>
                  <a:srgbClr val="2B2D42"/>
                </a:solidFill>
              </a:rPr>
              <a:t>Hattie &amp; Timperley (2007). The power of feedback. Review of Educational Research, 77(1).</a:t>
            </a:r>
            <a:endParaRPr lang="en-US" sz="1000" dirty="0"/>
          </a:p>
          <a:p>
            <a:pPr indent="0" marL="0">
              <a:spcAft>
                <a:spcPts val="400"/>
              </a:spcAft>
              <a:buNone/>
            </a:pPr>
            <a:r>
              <a:rPr lang="en-US" sz="1000" b="1" dirty="0">
                <a:solidFill>
                  <a:srgbClr val="FF4FA0"/>
                </a:solidFill>
              </a:rPr>
              <a:t>3  </a:t>
            </a:r>
            <a:pPr indent="0" marL="0">
              <a:spcAft>
                <a:spcPts val="400"/>
              </a:spcAft>
              <a:buNone/>
            </a:pPr>
            <a:r>
              <a:rPr lang="en-US" sz="1000" dirty="0">
                <a:solidFill>
                  <a:srgbClr val="2B2D42"/>
                </a:solidFill>
              </a:rPr>
              <a:t>Metcalfe (2017). Learning from errors. Annual Review of Psychology, 68.</a:t>
            </a:r>
            <a:endParaRPr lang="en-US" sz="1000" dirty="0"/>
          </a:p>
          <a:p>
            <a:pPr indent="0" marL="0">
              <a:spcAft>
                <a:spcPts val="400"/>
              </a:spcAft>
              <a:buNone/>
            </a:pPr>
            <a:r>
              <a:rPr lang="en-US" sz="1000" b="1" dirty="0">
                <a:solidFill>
                  <a:srgbClr val="FF4FA0"/>
                </a:solidFill>
              </a:rPr>
              <a:t>4  </a:t>
            </a:r>
            <a:pPr indent="0" marL="0">
              <a:spcAft>
                <a:spcPts val="400"/>
              </a:spcAft>
              <a:buNone/>
            </a:pPr>
            <a:r>
              <a:rPr lang="en-US" sz="1000" dirty="0">
                <a:solidFill>
                  <a:srgbClr val="2B2D42"/>
                </a:solidFill>
              </a:rPr>
              <a:t>Bjork &amp; Bjork (2011). Making things hard on yourself, but in a good way. Psychology and the Real World.</a:t>
            </a:r>
            <a:endParaRPr lang="en-US" sz="1000" dirty="0"/>
          </a:p>
          <a:p>
            <a:pPr indent="0" marL="0">
              <a:spcAft>
                <a:spcPts val="400"/>
              </a:spcAft>
              <a:buNone/>
            </a:pPr>
            <a:r>
              <a:rPr lang="en-US" sz="1000" b="1" dirty="0">
                <a:solidFill>
                  <a:srgbClr val="FF4FA0"/>
                </a:solidFill>
              </a:rPr>
              <a:t>5  </a:t>
            </a:r>
            <a:pPr indent="0" marL="0">
              <a:spcAft>
                <a:spcPts val="400"/>
              </a:spcAft>
              <a:buNone/>
            </a:pPr>
            <a:r>
              <a:rPr lang="en-US" sz="1000" dirty="0">
                <a:solidFill>
                  <a:srgbClr val="2B2D42"/>
                </a:solidFill>
              </a:rPr>
              <a:t>Csikszentmihalyi (1990). Flow: The Psychology of Optimal Experience.</a:t>
            </a:r>
            <a:endParaRPr lang="en-US" sz="1000" dirty="0"/>
          </a:p>
          <a:p>
            <a:pPr indent="0" marL="0">
              <a:spcAft>
                <a:spcPts val="400"/>
              </a:spcAft>
              <a:buNone/>
            </a:pPr>
            <a:r>
              <a:rPr lang="en-US" sz="1000" b="1" dirty="0">
                <a:solidFill>
                  <a:srgbClr val="FF4FA0"/>
                </a:solidFill>
              </a:rPr>
              <a:t>6  </a:t>
            </a:r>
            <a:pPr indent="0" marL="0">
              <a:spcAft>
                <a:spcPts val="400"/>
              </a:spcAft>
              <a:buNone/>
            </a:pPr>
            <a:r>
              <a:rPr lang="en-US" sz="1000" dirty="0">
                <a:solidFill>
                  <a:srgbClr val="2B2D42"/>
                </a:solidFill>
              </a:rPr>
              <a:t>Cepeda et al. (2006). Distributed practice in verbal recall tasks. Psychological Bulletin, 132(3).</a:t>
            </a:r>
            <a:endParaRPr lang="en-US" sz="1000" dirty="0"/>
          </a:p>
          <a:p>
            <a:pPr indent="0" marL="0">
              <a:spcAft>
                <a:spcPts val="400"/>
              </a:spcAft>
              <a:buNone/>
            </a:pPr>
            <a:r>
              <a:rPr lang="en-US" sz="1000" b="1" dirty="0">
                <a:solidFill>
                  <a:srgbClr val="FF4FA0"/>
                </a:solidFill>
              </a:rPr>
              <a:t>7  </a:t>
            </a:r>
            <a:pPr indent="0" marL="0">
              <a:spcAft>
                <a:spcPts val="400"/>
              </a:spcAft>
              <a:buNone/>
            </a:pPr>
            <a:r>
              <a:rPr lang="en-US" sz="1000" dirty="0">
                <a:solidFill>
                  <a:srgbClr val="2B2D42"/>
                </a:solidFill>
              </a:rPr>
              <a:t>Wouters et al. (2013). Cognitive and motivational effects of serious games. J. Educational Psychology, 105(2).</a:t>
            </a:r>
            <a:endParaRPr lang="en-US" sz="1000" dirty="0"/>
          </a:p>
          <a:p>
            <a:pPr indent="0" marL="0">
              <a:spcAft>
                <a:spcPts val="400"/>
              </a:spcAft>
              <a:buNone/>
            </a:pPr>
            <a:r>
              <a:rPr lang="en-US" sz="1000" b="1" dirty="0">
                <a:solidFill>
                  <a:srgbClr val="FF4FA0"/>
                </a:solidFill>
              </a:rPr>
              <a:t>8  </a:t>
            </a:r>
            <a:pPr indent="0" marL="0">
              <a:spcAft>
                <a:spcPts val="400"/>
              </a:spcAft>
              <a:buNone/>
            </a:pPr>
            <a:r>
              <a:rPr lang="en-US" sz="1000" dirty="0">
                <a:solidFill>
                  <a:srgbClr val="2B2D42"/>
                </a:solidFill>
              </a:rPr>
              <a:t>Clark, Tanner-Smith &amp; Killingsworth (2016). Digital games, design, and learning. Review of Educational Research, 86(1).</a:t>
            </a:r>
            <a:endParaRPr lang="en-US" sz="1000" dirty="0"/>
          </a:p>
          <a:p>
            <a:pPr indent="0" marL="0">
              <a:spcAft>
                <a:spcPts val="400"/>
              </a:spcAft>
              <a:buNone/>
            </a:pPr>
            <a:r>
              <a:rPr lang="en-US" sz="1000" b="1" dirty="0">
                <a:solidFill>
                  <a:srgbClr val="FF4FA0"/>
                </a:solidFill>
              </a:rPr>
              <a:t>9  </a:t>
            </a:r>
            <a:pPr indent="0" marL="0">
              <a:spcAft>
                <a:spcPts val="400"/>
              </a:spcAft>
              <a:buNone/>
            </a:pPr>
            <a:r>
              <a:rPr lang="en-US" sz="1000" dirty="0">
                <a:solidFill>
                  <a:srgbClr val="2B2D42"/>
                </a:solidFill>
              </a:rPr>
              <a:t>Buck (2015). Mazes for Programmers. Pragmatic Bookshelf.</a:t>
            </a:r>
            <a:endParaRPr lang="en-US" sz="1000" dirty="0"/>
          </a:p>
          <a:p>
            <a:pPr indent="0" marL="0">
              <a:spcAft>
                <a:spcPts val="400"/>
              </a:spcAft>
              <a:buNone/>
            </a:pPr>
            <a:r>
              <a:rPr lang="en-US" sz="1000" b="1" dirty="0">
                <a:solidFill>
                  <a:srgbClr val="FF4FA0"/>
                </a:solidFill>
              </a:rPr>
              <a:t>10  </a:t>
            </a:r>
            <a:pPr indent="0" marL="0">
              <a:spcAft>
                <a:spcPts val="400"/>
              </a:spcAft>
              <a:buNone/>
            </a:pPr>
            <a:r>
              <a:rPr lang="en-US" sz="1000" dirty="0">
                <a:solidFill>
                  <a:srgbClr val="2B2D42"/>
                </a:solidFill>
              </a:rPr>
              <a:t>Fiedler (2004). Fix Your Timestep! gafferongames.com.</a:t>
            </a:r>
            <a:endParaRPr lang="en-US" sz="1000" dirty="0"/>
          </a:p>
          <a:p>
            <a:pPr indent="0" marL="0">
              <a:spcAft>
                <a:spcPts val="400"/>
              </a:spcAft>
              <a:buNone/>
            </a:pPr>
            <a:r>
              <a:rPr lang="en-US" sz="1000" b="1" dirty="0">
                <a:solidFill>
                  <a:srgbClr val="FF4FA0"/>
                </a:solidFill>
              </a:rPr>
              <a:t>11  </a:t>
            </a:r>
            <a:pPr indent="0" marL="0">
              <a:spcAft>
                <a:spcPts val="400"/>
              </a:spcAft>
              <a:buNone/>
            </a:pPr>
            <a:r>
              <a:rPr lang="en-US" sz="1000" dirty="0">
                <a:solidFill>
                  <a:srgbClr val="2B2D42"/>
                </a:solidFill>
              </a:rPr>
              <a:t>Docs: three.js, React Three Fiber, DeepSeek API. Art direction: Fall Guys (Mediatonic, 2020).</a:t>
            </a:r>
            <a:endParaRPr lang="en-US" sz="1000" dirty="0"/>
          </a:p>
        </p:txBody>
      </p:sp>
      <p:sp>
        <p:nvSpPr>
          <p:cNvPr id="25" name="Slide Number Placeholder 0"/>
          <p:cNvSpPr>
            <a:spLocks noGrp="1"/>
          </p:cNvSpPr>
          <p:nvPr>
            <p:ph type="sldNum" sz="quarter" idx="4294967295"/>
          </p:nvPr>
        </p:nvSpPr>
        <p:spPr>
          <a:xfrm>
            <a:off x="11183112" y="641908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1" lang="en-US"/>
              <a:t>6</a:t>
            </a:fld>
            <a:endParaRPr lang="en-US"/>
          </a:p>
        </p:txBody>
      </p:sp>
    </p:spTree>
  </p:cSld>
  <p:clrMapOvr>
    <a:masterClrMapping/>
  </p:clrMapOvr>
</p:sld>
</file>

<file path=ppt/theme/theme1.xml><?xml version="1.0" encoding="utf-8"?>
<a:theme xmlns:a="http://schemas.openxmlformats.org/drawingml/2006/main" name="Learn Your Way Out">
  <a:themeElements>
    <a:clrScheme name="Learn Your Way Out">
      <a:dk1>
        <a:srgbClr val="2B2D42"/>
      </a:dk1>
      <a:lt1>
        <a:srgbClr val="FFFFFF"/>
      </a:lt1>
      <a:dk2>
        <a:srgbClr val="5B5F80"/>
      </a:dk2>
      <a:lt2>
        <a:srgbClr val="F1F9FF"/>
      </a:lt2>
      <a:accent1>
        <a:srgbClr val="FF4FA0"/>
      </a:accent1>
      <a:accent2>
        <a:srgbClr val="6EC6FF"/>
      </a:accent2>
      <a:accent3>
        <a:srgbClr val="3DBE6A"/>
      </a:accent3>
      <a:accent4>
        <a:srgbClr val="FFC93C"/>
      </a:accent4>
      <a:accent5>
        <a:srgbClr val="7A4DFF"/>
      </a:accent5>
      <a:accent6>
        <a:srgbClr val="FF8A3D"/>
      </a:accent6>
      <a:hlink>
        <a:srgbClr val="7A4DFF"/>
      </a:hlink>
      <a:folHlink>
        <a:srgbClr val="5B5F80"/>
      </a:folHlink>
    </a:clrScheme>
    <a:fontScheme name="Learn Your Way Out">
      <a:majorFont>
        <a:latin typeface="Titan O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 Your Way Out: PL05 pitch</dc:title>
  <dc:subject>PL05 Learn Your Way Out, Play Lab track</dc:subject>
  <dc:creator>Team Solo</dc:creator>
  <cp:lastModifiedBy>Team Solo</cp:lastModifiedBy>
  <cp:revision>1</cp:revision>
  <dcterms:created xsi:type="dcterms:W3CDTF">2026-10-13T13:08:30Z</dcterms:created>
  <dcterms:modified xsi:type="dcterms:W3CDTF">2026-10-13T13:08:30Z</dcterms:modified>
</cp:coreProperties>
</file>